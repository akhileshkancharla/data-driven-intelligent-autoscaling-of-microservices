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dbf865d9cec40d0" /><Relationship Type="http://schemas.openxmlformats.org/officeDocument/2006/relationships/extended-properties" Target="/docProps/app.xml" Id="R210c4a4244464218" /><Relationship Type="http://schemas.openxmlformats.org/officeDocument/2006/relationships/officeDocument" Target="/ppt/presentation.xml" Id="R69464a70cbac4e8a" /></Relationships>
</file>

<file path=ppt/presentation.xml><?xml version="1.0" encoding="utf-8"?>
<p:presentation xmlns:p="http://schemas.openxmlformats.org/presentationml/2006/main">
  <p:sldMasterIdLst>
    <p:sldMasterId xmlns:r="http://schemas.openxmlformats.org/officeDocument/2006/relationships" id="2147483648" r:id="Ra917cfe33d274212"/>
  </p:sldMasterIdLst>
  <p:notesMasterIdLst>
    <p:notesMasterId xmlns:r="http://schemas.openxmlformats.org/officeDocument/2006/relationships" r:id="R6292b5afa7074c82"/>
  </p:notesMasterIdLst>
  <p:sldIdLst>
    <p:sldId xmlns:r="http://schemas.openxmlformats.org/officeDocument/2006/relationships" id="256" r:id="Rb97046bdcd8747b9"/>
    <p:sldId xmlns:r="http://schemas.openxmlformats.org/officeDocument/2006/relationships" id="257" r:id="R1051f8cc88464651"/>
    <p:sldId xmlns:r="http://schemas.openxmlformats.org/officeDocument/2006/relationships" id="258" r:id="R3ecf7bbf7b324d86"/>
    <p:sldId xmlns:r="http://schemas.openxmlformats.org/officeDocument/2006/relationships" id="259" r:id="R5daa738940fd4f8a"/>
    <p:sldId xmlns:r="http://schemas.openxmlformats.org/officeDocument/2006/relationships" id="260" r:id="R3ab321d8bb4340f7"/>
    <p:sldId xmlns:r="http://schemas.openxmlformats.org/officeDocument/2006/relationships" id="261" r:id="R662574eb254b4c89"/>
    <p:sldId xmlns:r="http://schemas.openxmlformats.org/officeDocument/2006/relationships" id="262" r:id="R088b0bca8c66492a"/>
    <p:sldId xmlns:r="http://schemas.openxmlformats.org/officeDocument/2006/relationships" id="263" r:id="Rd5755b0849964236"/>
    <p:sldId xmlns:r="http://schemas.openxmlformats.org/officeDocument/2006/relationships" id="264" r:id="R59ad97f7d1a9410b"/>
    <p:sldId xmlns:r="http://schemas.openxmlformats.org/officeDocument/2006/relationships" id="265" r:id="R7ce8dd3bb5fd48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57a6f3aa0f4511" /><Relationship Type="http://schemas.openxmlformats.org/officeDocument/2006/relationships/slideMaster" Target="/ppt/slideMasters/slideMaster1.xml" Id="Ra917cfe33d274212" /><Relationship Type="http://schemas.openxmlformats.org/officeDocument/2006/relationships/notesMaster" Target="/ppt/notesMasters/notesMaster1.xml" Id="R6292b5afa7074c82" /><Relationship Type="http://schemas.openxmlformats.org/officeDocument/2006/relationships/presProps" Target="/ppt/presProps.xml" Id="R78540489967f44a3" /><Relationship Type="http://schemas.openxmlformats.org/officeDocument/2006/relationships/tableStyles" Target="/ppt/tableStyles.xml" Id="R5f63dafe5c824d2d" /><Relationship Type="http://schemas.openxmlformats.org/officeDocument/2006/relationships/slide" Target="/ppt/slides/slide1.xml" Id="Rb97046bdcd8747b9" /><Relationship Type="http://schemas.openxmlformats.org/officeDocument/2006/relationships/slide" Target="/ppt/slides/slide2.xml" Id="R1051f8cc88464651" /><Relationship Type="http://schemas.openxmlformats.org/officeDocument/2006/relationships/slide" Target="/ppt/slides/slide3.xml" Id="R3ecf7bbf7b324d86" /><Relationship Type="http://schemas.openxmlformats.org/officeDocument/2006/relationships/slide" Target="/ppt/slides/slide4.xml" Id="R5daa738940fd4f8a" /><Relationship Type="http://schemas.openxmlformats.org/officeDocument/2006/relationships/slide" Target="/ppt/slides/slide5.xml" Id="R3ab321d8bb4340f7" /><Relationship Type="http://schemas.openxmlformats.org/officeDocument/2006/relationships/slide" Target="/ppt/slides/slide6.xml" Id="R662574eb254b4c89" /><Relationship Type="http://schemas.openxmlformats.org/officeDocument/2006/relationships/slide" Target="/ppt/slides/slide7.xml" Id="R088b0bca8c66492a" /><Relationship Type="http://schemas.openxmlformats.org/officeDocument/2006/relationships/slide" Target="/ppt/slides/slide8.xml" Id="Rd5755b0849964236" /><Relationship Type="http://schemas.openxmlformats.org/officeDocument/2006/relationships/slide" Target="/ppt/slides/slide9.xml" Id="R59ad97f7d1a9410b" /><Relationship Type="http://schemas.openxmlformats.org/officeDocument/2006/relationships/slide" Target="/ppt/slides/slide10.xml" Id="R7ce8dd3bb5fd48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18f68158354e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a3d5f02e8146c6" /><Relationship Type="http://schemas.openxmlformats.org/officeDocument/2006/relationships/notesMaster" Target="/ppt/notesMasters/notesMaster1.xml" Id="Rb7922b503e9e43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77c860ce1a483d" /><Relationship Type="http://schemas.openxmlformats.org/officeDocument/2006/relationships/notesMaster" Target="/ppt/notesMasters/notesMaster1.xml" Id="R84b94cdaddf54b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d07d0e984b498a" /><Relationship Type="http://schemas.openxmlformats.org/officeDocument/2006/relationships/notesMaster" Target="/ppt/notesMasters/notesMaster1.xml" Id="Ra037061318524e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e44c9fab054419" /><Relationship Type="http://schemas.openxmlformats.org/officeDocument/2006/relationships/notesMaster" Target="/ppt/notesMasters/notesMaster1.xml" Id="R57459ff9ed724a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7c5f3847494566" /><Relationship Type="http://schemas.openxmlformats.org/officeDocument/2006/relationships/notesMaster" Target="/ppt/notesMasters/notesMaster1.xml" Id="R768f3890433146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7eabd1be654c59" /><Relationship Type="http://schemas.openxmlformats.org/officeDocument/2006/relationships/notesMaster" Target="/ppt/notesMasters/notesMaster1.xml" Id="R786f0096a64545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8e0d56e1674620" /><Relationship Type="http://schemas.openxmlformats.org/officeDocument/2006/relationships/notesMaster" Target="/ppt/notesMasters/notesMaster1.xml" Id="R49d54cbeb8a446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5aae5167134eef" /><Relationship Type="http://schemas.openxmlformats.org/officeDocument/2006/relationships/notesMaster" Target="/ppt/notesMasters/notesMaster1.xml" Id="Rbdc97d9176fb47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3390dbeaea4551" /><Relationship Type="http://schemas.openxmlformats.org/officeDocument/2006/relationships/notesMaster" Target="/ppt/notesMasters/notesMaster1.xml" Id="R4738d967326d44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f593b9f0dd4fb4" /><Relationship Type="http://schemas.openxmlformats.org/officeDocument/2006/relationships/notesMaster" Target="/ppt/notesMasters/notesMaster1.xml" Id="R7f64740f572b4d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defining replicas as running copies of a microservice. The project has two parts: a real one-minute-ahead call-rate forecast and a simulation of scaling rules. State clearly that the application does not create Kubernetes Pods.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line is real prepared traffic for the held-out demonstration window, minutes 118–128. The 100-unit horizontal line is a simulated capacity assumption: two replicas times 50 source call-rate units per replica. This does not measure real request failures, CPU utilization, or latency.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https://zenodo.org/records/14245634, DOI 10.5281/zenodo.14245634. The 8.2 MB CSV has no header. Its field meanings follow the record description; call-rate and service-time units are not explicitly defined. The record says 30-second intervals, while the actual second timestamp advances by 60,000 units. We therefore use observed one-minute steps if those units are milliseconds. Container rows can repeat rate values, so summing could double-count. We collapse repeated service/time/container rows and use the median across distinct containers as a proxy. The selected service is the one with the longest contiguous nonconstant run of at least 20 buckets; ID starts 99f2e7b5.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129 buckets and 125 supervised forecast origins after accounting for historical lags and a next-step target. Features are current call rate, lag 1, lag 2, lag 3, the mean of current and two prior values, and current minus lag 2. We split 75/25/25 in time order. Validation selects the rpart complexity parameter, then the final tree is trained on train plus validation. Test history can be used at the next origin once observed, which matches a rolling one-step forecast; the future target itself is never an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dark line is held-out actual traffic, teal is the saved rpart tree forecast, and orange is persistence: next value equals current value. Point out that the model misses some changes and do not imply that it outperforms the baseline. These are one-minute-ahead rolling forecasts using only current and earlier call rates.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25 held-out forecast origins, rpart MAE is 5.895256 and RMSE 7.617359; persistence MAE is 4.829841 and RMSE 6.173054. MAE is average absolute miss, while RMSE gives larger misses more weight. Both are lower for persistence. The project is a working evaluation pipeline; the tree should not be presented as a superior predictor. Metrics are in source call-rate units, whose precise definition is not confirmed by the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uses ceiling(predicted call rate times safety factor divided by heuristic capacity per replica), bounded by min and max. Defaults are 50 source call-rate units per replica and safety factor 1.2. A signal of 110 produces 2.64, so the rule recommends 3 replicas. This is a numerical policy rule, not a capacity benchmark. In replay, reactive uses the current observed call rate as the signal, while predictive uses the one-minute-ahead model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policies receive the same observed selected-service traffic and start at fixed-policy replicas = 2. Fixed never changes. Reactive uses the current call rate; predictive uses the rpart forecast for the following minute. Both use the same safety and capacity formula and min/max bounds. Actions are queued and applied after the configured startup delay, one minute by default. Overload is only a simulated capacity comparison, not measured errors or latency. With delays longer than one minute, the model horizon is too short to fully anticipate startup.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Click Load observed rise in the Shiny app for the same held-out 11-minute window, 118 through 128. Default assumptions: heuristic capacity 50 call-rate units per replica, safety factor 1.2, initial/fixed replicas 2, startup delay 1 minute. Fixed has 11 overload intervals, 22 replica-minutes, and 0 actions. Reactive has 1 overload interval, 34 replica-minutes, and 3 actions. Predictive has 1 overload interval, 32 replica-minutes, and 1 action. This is a simulation, not measured production benefit. The fixed count uses fewer replica-minutes but is over assumed capacity every interval; predictive and reactive use more capacity. Do not generalize from this short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deliverable demonstrates a reproducible real-trace forecasting and replay workflow. The tree does not beat persistence on held-out error. Replay outcomes use a heuristic capacity and cannot establish real latency, error-rate, or Kubernetes effects. Source documentation leaves call-rate units ambiguous and describes a 30-second interval inconsistent with this CSV’s 60,000-unit observed spacing. Next steps are verifying units, collecting real per-replica capacity and latency, evaluating more services and longer periods, multi-horizon forecasting for startup delays, and eventually a separately engineered Kubernetes integration. RL/PPO remains a future extension. Source: https://zenodo.org/records/14245634.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4d20eb0df7484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511d65856941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1dd4a3548b42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c4b8a5e0df46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9e3116ac5e44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9a32bb687341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8E7C06-E2AD-4C84-96E7-1185E35A9F9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C5C454-3CF4-4A4F-A74A-CDBDD19735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D3640A-32D2-4057-B220-B9900214BE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F813DE-59E7-425D-B72D-105ED13228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7D4679-0424-4961-B0EC-F755EE79AB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7702FD-15A0-4E78-A48D-4FBB48C1D2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613398-2C72-42BD-9CFF-BD59A05FE9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1FD4CEC-70B6-4A47-8BF5-6681417F9B2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78CE1E-6D19-41D4-8E6B-E495AE38F4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C4C087-4497-4374-81B3-82576F604B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d528851a634e1c" /><Relationship Type="http://schemas.openxmlformats.org/officeDocument/2006/relationships/slideLayout" Target="/ppt/slideLayouts/slideLayout1.xml" Id="R469797daae954602" /><Relationship Type="http://schemas.openxmlformats.org/officeDocument/2006/relationships/slideLayout" Target="/ppt/slideLayouts/slideLayout2.xml" Id="R38fa6585ffdd4175" /><Relationship Type="http://schemas.openxmlformats.org/officeDocument/2006/relationships/slideLayout" Target="/ppt/slideLayouts/slideLayout3.xml" Id="R7baef1e6e6494f31" /><Relationship Type="http://schemas.openxmlformats.org/officeDocument/2006/relationships/slideLayout" Target="/ppt/slideLayouts/slideLayout4.xml" Id="R8c71c6ec5d8e4dec" /><Relationship Type="http://schemas.openxmlformats.org/officeDocument/2006/relationships/slideLayout" Target="/ppt/slideLayouts/slideLayout5.xml" Id="Re427e880f9c943d8" /><Relationship Type="http://schemas.openxmlformats.org/officeDocument/2006/relationships/slideLayout" Target="/ppt/slideLayouts/slideLayout6.xml" Id="R03af9d1296274d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9797daae954602"/>
    <p:sldLayoutId xmlns:r="http://schemas.openxmlformats.org/officeDocument/2006/relationships" id="2147483650" r:id="R38fa6585ffdd4175"/>
    <p:sldLayoutId xmlns:r="http://schemas.openxmlformats.org/officeDocument/2006/relationships" id="2147483651" r:id="R7baef1e6e6494f31"/>
    <p:sldLayoutId xmlns:r="http://schemas.openxmlformats.org/officeDocument/2006/relationships" id="2147483652" r:id="R8c71c6ec5d8e4dec"/>
    <p:sldLayoutId xmlns:r="http://schemas.openxmlformats.org/officeDocument/2006/relationships" id="2147483653" r:id="Re427e880f9c943d8"/>
    <p:sldLayoutId xmlns:r="http://schemas.openxmlformats.org/officeDocument/2006/relationships" id="2147483654" r:id="R03af9d1296274d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ed008434c8a43ce" /><Relationship Type="http://schemas.openxmlformats.org/officeDocument/2006/relationships/notesSlide" Target="/ppt/notesSlides/notesSlide1.xml" Id="R36d4ff4b2a6446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660b5c349534f08" /><Relationship Type="http://schemas.openxmlformats.org/officeDocument/2006/relationships/chart" Target="/ppt/slides/charts/chart1.xml" Id="R21448ac53f00467f" /><Relationship Type="http://schemas.openxmlformats.org/officeDocument/2006/relationships/notesSlide" Target="/ppt/notesSlides/notesSlide2.xml" Id="R64bebfa0d3ad41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e5ad3d6a844f86" /><Relationship Type="http://schemas.openxmlformats.org/officeDocument/2006/relationships/notesSlide" Target="/ppt/notesSlides/notesSlide3.xml" Id="R4f30834d8c364c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0ddbd1b931b4f08" /><Relationship Type="http://schemas.openxmlformats.org/officeDocument/2006/relationships/notesSlide" Target="/ppt/notesSlides/notesSlide4.xml" Id="R4a3f8bf65dbc40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1b36c05bbed46d3" /><Relationship Type="http://schemas.openxmlformats.org/officeDocument/2006/relationships/chart" Target="/ppt/slides/charts/chart2.xml" Id="R3a5e666f21074322" /><Relationship Type="http://schemas.openxmlformats.org/officeDocument/2006/relationships/notesSlide" Target="/ppt/notesSlides/notesSlide5.xml" Id="Re9d450d4c76b46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21a4319365d4e1a" /><Relationship Type="http://schemas.openxmlformats.org/officeDocument/2006/relationships/chart" Target="/ppt/slides/charts/chart3.xml" Id="R1c2a4e23ce174f91" /><Relationship Type="http://schemas.openxmlformats.org/officeDocument/2006/relationships/notesSlide" Target="/ppt/notesSlides/notesSlide6.xml" Id="Rc5fb6b8547c641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c02f363c6c545e9" /><Relationship Type="http://schemas.openxmlformats.org/officeDocument/2006/relationships/notesSlide" Target="/ppt/notesSlides/notesSlide7.xml" Id="R75d1551a00ad43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0b8c486ee1644c0" /><Relationship Type="http://schemas.openxmlformats.org/officeDocument/2006/relationships/notesSlide" Target="/ppt/notesSlides/notesSlide8.xml" Id="R249d9ab217934c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3495d1d18cb4bab" /><Relationship Type="http://schemas.openxmlformats.org/officeDocument/2006/relationships/chart" Target="/ppt/slides/charts/chart4.xml" Id="R395f9b96a8f241ba" /><Relationship Type="http://schemas.openxmlformats.org/officeDocument/2006/relationships/notesSlide" Target="/ppt/notesSlides/notesSlide9.xml" Id="Rf02690b51f7f45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35bc2719e0640c6" /><Relationship Type="http://schemas.openxmlformats.org/officeDocument/2006/relationships/notesSlide" Target="/ppt/notesSlides/notesSlide10.xml" Id="Rcf7d86080613494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Observed call rate</c:v>
          </c:tx>
          <c:spPr>
            <a:ln xmlns:a="http://schemas.openxmlformats.org/drawingml/2006/main" w="28575">
              <a:solidFill>
                <a:srgbClr val="142E52"/>
              </a:solidFill>
              <a:prstDash val="solid"/>
            </a:ln>
          </c:spPr>
          <c:marker>
            <c:symbol val="none"/>
          </c:marker>
          <c:cat>
            <c:numRef>
              <c:f>'Chart Data'!$A$2:$A$12</c:f>
              <c:numCache>
                <c:formatCode>General</c:formatCode>
                <c:ptCount val="11"/>
                <c:pt idx="0">
                  <c:v>118</c:v>
                </c:pt>
                <c:pt idx="1">
                  <c:v>119</c:v>
                </c:pt>
                <c:pt idx="2">
                  <c:v>120</c:v>
                </c:pt>
                <c:pt idx="3">
                  <c:v>121</c:v>
                </c:pt>
                <c:pt idx="4">
                  <c:v>122</c:v>
                </c:pt>
                <c:pt idx="5">
                  <c:v>123</c:v>
                </c:pt>
                <c:pt idx="6">
                  <c:v>124</c:v>
                </c:pt>
                <c:pt idx="7">
                  <c:v>125</c:v>
                </c:pt>
                <c:pt idx="8">
                  <c:v>126</c:v>
                </c:pt>
                <c:pt idx="9">
                  <c:v>127</c:v>
                </c:pt>
                <c:pt idx="10">
                  <c:v>128</c:v>
                </c:pt>
              </c:numCache>
            </c:numRef>
          </c:cat>
          <c:val>
            <c:numRef>
              <c:f>'Chart Data'!$B$2:$B$12</c:f>
              <c:numCache>
                <c:formatCode>General</c:formatCode>
                <c:ptCount val="11"/>
                <c:pt idx="0">
                  <c:v>108.746078431373</c:v>
                </c:pt>
                <c:pt idx="1">
                  <c:v>108.126582278481</c:v>
                </c:pt>
                <c:pt idx="2">
                  <c:v>113.94776574653</c:v>
                </c:pt>
                <c:pt idx="3">
                  <c:v>110.907692307692</c:v>
                </c:pt>
                <c:pt idx="4">
                  <c:v>111.566666666667</c:v>
                </c:pt>
                <c:pt idx="5">
                  <c:v>111</c:v>
                </c:pt>
                <c:pt idx="6">
                  <c:v>111.923793597707</c:v>
                </c:pt>
                <c:pt idx="7">
                  <c:v>111.874832663989</c:v>
                </c:pt>
                <c:pt idx="8">
                  <c:v>126.03488372093</c:v>
                </c:pt>
                <c:pt idx="9">
                  <c:v>127.90710241894</c:v>
                </c:pt>
                <c:pt idx="10">
                  <c:v>115.56402027027</c:v>
                </c:pt>
              </c:numCache>
            </c:numRef>
          </c:val>
        </c:ser>
        <c:ser>
          <c:idx val="1"/>
          <c:order val="1"/>
          <c:tx>
            <c:v>Two replicas × 50 capacity</c:v>
          </c:tx>
          <c:spPr>
            <a:ln xmlns:a="http://schemas.openxmlformats.org/drawingml/2006/main" w="19050">
              <a:solidFill>
                <a:srgbClr val="D78628"/>
              </a:solidFill>
              <a:prstDash val="solid"/>
            </a:ln>
          </c:spPr>
          <c:marker>
            <c:symbol val="none"/>
          </c:marker>
          <c:cat>
            <c:numRef>
              <c:f>'Chart Data'!$C$2:$C$12</c:f>
              <c:numCache>
                <c:formatCode>General</c:formatCode>
                <c:ptCount val="11"/>
                <c:pt idx="0">
                  <c:v>118</c:v>
                </c:pt>
                <c:pt idx="1">
                  <c:v>119</c:v>
                </c:pt>
                <c:pt idx="2">
                  <c:v>120</c:v>
                </c:pt>
                <c:pt idx="3">
                  <c:v>121</c:v>
                </c:pt>
                <c:pt idx="4">
                  <c:v>122</c:v>
                </c:pt>
                <c:pt idx="5">
                  <c:v>123</c:v>
                </c:pt>
                <c:pt idx="6">
                  <c:v>124</c:v>
                </c:pt>
                <c:pt idx="7">
                  <c:v>125</c:v>
                </c:pt>
                <c:pt idx="8">
                  <c:v>126</c:v>
                </c:pt>
                <c:pt idx="9">
                  <c:v>127</c:v>
                </c:pt>
                <c:pt idx="10">
                  <c:v>128</c:v>
                </c:pt>
              </c:numCache>
            </c:numRef>
          </c:cat>
          <c:val>
            <c:numRef>
              <c:f>'Chart Data'!$D$2:$D$12</c:f>
              <c:numCache>
                <c:formatCode>General</c:formatCode>
                <c:ptCount val="11"/>
                <c:pt idx="0">
                  <c:v>100</c:v>
                </c:pt>
                <c:pt idx="1">
                  <c:v>100</c:v>
                </c:pt>
                <c:pt idx="2">
                  <c:v>100</c:v>
                </c:pt>
                <c:pt idx="3">
                  <c:v>100</c:v>
                </c:pt>
                <c:pt idx="4">
                  <c:v>100</c:v>
                </c:pt>
                <c:pt idx="5">
                  <c:v>100</c:v>
                </c:pt>
                <c:pt idx="6">
                  <c:v>100</c:v>
                </c:pt>
                <c:pt idx="7">
                  <c:v>100</c:v>
                </c:pt>
                <c:pt idx="8">
                  <c:v>100</c:v>
                </c:pt>
                <c:pt idx="9">
                  <c:v>100</c:v>
                </c:pt>
                <c:pt idx="10">
                  <c:v>100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125">
                    <a:solidFill>
                      <a:srgbClr val="5C6D7D"/>
                    </a:solidFill>
                    <a:latin typeface="Arial"/>
                    <a:ea typeface="Arial"/>
                    <a:cs typeface="Arial"/>
                  </a:rPr>
                  <a:t>Elapsed minute</a:t>
                </a:r>
              </a:p>
            </c:rich>
          </c:tx>
          <c:overlay val="0"/>
          <c:txPr>
            <a:bodyPr xmlns:a="http://schemas.openxmlformats.org/drawingml/2006/main" anchorCtr="1"/>
            <a:lstStyle xmlns:a="http://schemas.openxmlformats.org/drawingml/2006/main"/>
            <a:p xmlns:a="http://schemas.openxmlformats.org/drawingml/2006/main">
              <a:pPr>
                <a:defRPr sz="1125">
                  <a:solidFill>
                    <a:srgbClr val="5C6D7D"/>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C6D7D"/>
                </a:solidFill>
                <a:latin typeface="Arial"/>
                <a:ea typeface="Arial"/>
                <a:cs typeface="Arial"/>
              </a:defRPr>
            </a:pPr>
          </a:p>
        </c:txPr>
        <c:crossAx val="48672768"/>
      </c:catAx>
      <c:valAx>
        <c:axId val="48672768"/>
        <c:scaling>
          <c:orientation val="minMax"/>
          <c:max val="140"/>
          <c:min val="90"/>
        </c:scaling>
        <c:delete val="0"/>
        <c:axPos val="l"/>
        <c:majorGridlines>
          <c:spPr>
            <a:ln xmlns:a="http://schemas.openxmlformats.org/drawingml/2006/main" w="9525">
              <a:solidFill>
                <a:srgbClr val="D6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5C6D7D"/>
                    </a:solidFill>
                    <a:latin typeface="Arial"/>
                    <a:ea typeface="Arial"/>
                    <a:cs typeface="Arial"/>
                  </a:rPr>
                  <a:t>Call rate (source units)</a:t>
                </a:r>
              </a:p>
            </c:rich>
          </c:tx>
          <c:overlay val="0"/>
          <c:txPr>
            <a:bodyPr xmlns:a="http://schemas.openxmlformats.org/drawingml/2006/main" anchorCtr="1"/>
            <a:lstStyle xmlns:a="http://schemas.openxmlformats.org/drawingml/2006/main"/>
            <a:p xmlns:a="http://schemas.openxmlformats.org/drawingml/2006/main">
              <a:pPr>
                <a:defRPr sz="1125">
                  <a:solidFill>
                    <a:srgbClr val="5C6D7D"/>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C6D7D"/>
                </a:solidFill>
                <a:latin typeface="Arial"/>
                <a:ea typeface="Arial"/>
                <a:cs typeface="Arial"/>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82A4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Actual</c:v>
          </c:tx>
          <c:spPr>
            <a:ln xmlns:a="http://schemas.openxmlformats.org/drawingml/2006/main" w="28575">
              <a:solidFill>
                <a:srgbClr val="142E52"/>
              </a:solidFill>
              <a:prstDash val="solid"/>
            </a:ln>
          </c:spPr>
          <c:marker>
            <c:symbol val="none"/>
          </c:marker>
          <c:cat>
            <c:numRef>
              <c:f>'Chart Data'!$A$2:$A$26</c:f>
              <c:numCache>
                <c:formatCode>General</c:formatCode>
                <c:ptCount val="25"/>
                <c:pt idx="0">
                  <c:v>104</c:v>
                </c:pt>
                <c:pt idx="1">
                  <c:v>105</c:v>
                </c:pt>
                <c:pt idx="2">
                  <c:v>106</c:v>
                </c:pt>
                <c:pt idx="3">
                  <c:v>107</c:v>
                </c:pt>
                <c:pt idx="4">
                  <c:v>108</c:v>
                </c:pt>
                <c:pt idx="5">
                  <c:v>109</c:v>
                </c:pt>
                <c:pt idx="6">
                  <c:v>110</c:v>
                </c:pt>
                <c:pt idx="7">
                  <c:v>111</c:v>
                </c:pt>
                <c:pt idx="8">
                  <c:v>112</c:v>
                </c:pt>
                <c:pt idx="9">
                  <c:v>113</c:v>
                </c:pt>
                <c:pt idx="10">
                  <c:v>114</c:v>
                </c:pt>
                <c:pt idx="11">
                  <c:v>115</c:v>
                </c:pt>
                <c:pt idx="12">
                  <c:v>116</c:v>
                </c:pt>
                <c:pt idx="13">
                  <c:v>117</c:v>
                </c:pt>
                <c:pt idx="14">
                  <c:v>118</c:v>
                </c:pt>
                <c:pt idx="15">
                  <c:v>119</c:v>
                </c:pt>
                <c:pt idx="16">
                  <c:v>120</c:v>
                </c:pt>
                <c:pt idx="17">
                  <c:v>121</c:v>
                </c:pt>
                <c:pt idx="18">
                  <c:v>122</c:v>
                </c:pt>
                <c:pt idx="19">
                  <c:v>123</c:v>
                </c:pt>
                <c:pt idx="20">
                  <c:v>124</c:v>
                </c:pt>
                <c:pt idx="21">
                  <c:v>125</c:v>
                </c:pt>
                <c:pt idx="22">
                  <c:v>126</c:v>
                </c:pt>
                <c:pt idx="23">
                  <c:v>127</c:v>
                </c:pt>
                <c:pt idx="24">
                  <c:v>128</c:v>
                </c:pt>
              </c:numCache>
            </c:numRef>
          </c:cat>
          <c:val>
            <c:numRef>
              <c:f>'Chart Data'!$B$2:$B$26</c:f>
              <c:numCache>
                <c:formatCode>General</c:formatCode>
                <c:ptCount val="25"/>
                <c:pt idx="0">
                  <c:v>106.047393007836</c:v>
                </c:pt>
                <c:pt idx="1">
                  <c:v>108.348717948718</c:v>
                </c:pt>
                <c:pt idx="2">
                  <c:v>114.157467532468</c:v>
                </c:pt>
                <c:pt idx="3">
                  <c:v>105.09375</c:v>
                </c:pt>
                <c:pt idx="4">
                  <c:v>115.900921658986</c:v>
                </c:pt>
                <c:pt idx="5">
                  <c:v>108.808374844334</c:v>
                </c:pt>
                <c:pt idx="6">
                  <c:v>101.907575757576</c:v>
                </c:pt>
                <c:pt idx="7">
                  <c:v>104.331067237847</c:v>
                </c:pt>
                <c:pt idx="8">
                  <c:v>108.07425833794</c:v>
                </c:pt>
                <c:pt idx="9">
                  <c:v>116.068965517241</c:v>
                </c:pt>
                <c:pt idx="10">
                  <c:v>113.873015873016</c:v>
                </c:pt>
                <c:pt idx="11">
                  <c:v>114.118782823602</c:v>
                </c:pt>
                <c:pt idx="12">
                  <c:v>109.605992085924</c:v>
                </c:pt>
                <c:pt idx="13">
                  <c:v>115.699189189189</c:v>
                </c:pt>
                <c:pt idx="14">
                  <c:v>108.746078431373</c:v>
                </c:pt>
                <c:pt idx="15">
                  <c:v>108.126582278481</c:v>
                </c:pt>
                <c:pt idx="16">
                  <c:v>113.94776574653</c:v>
                </c:pt>
                <c:pt idx="17">
                  <c:v>110.907692307692</c:v>
                </c:pt>
                <c:pt idx="18">
                  <c:v>111.566666666667</c:v>
                </c:pt>
                <c:pt idx="19">
                  <c:v>111</c:v>
                </c:pt>
                <c:pt idx="20">
                  <c:v>111.923793597707</c:v>
                </c:pt>
                <c:pt idx="21">
                  <c:v>111.874832663989</c:v>
                </c:pt>
                <c:pt idx="22">
                  <c:v>126.03488372093</c:v>
                </c:pt>
                <c:pt idx="23">
                  <c:v>127.90710241894</c:v>
                </c:pt>
                <c:pt idx="24">
                  <c:v>115.56402027027</c:v>
                </c:pt>
              </c:numCache>
            </c:numRef>
          </c:val>
        </c:ser>
        <c:ser>
          <c:idx val="1"/>
          <c:order val="1"/>
          <c:tx>
            <c:v>rpart tree</c:v>
          </c:tx>
          <c:spPr>
            <a:ln xmlns:a="http://schemas.openxmlformats.org/drawingml/2006/main" w="28575">
              <a:solidFill>
                <a:srgbClr val="009AA6"/>
              </a:solidFill>
              <a:prstDash val="solid"/>
            </a:ln>
          </c:spPr>
          <c:marker>
            <c:symbol val="none"/>
          </c:marker>
          <c:cat>
            <c:numRef>
              <c:f>'Chart Data'!$C$2:$C$26</c:f>
              <c:numCache>
                <c:formatCode>General</c:formatCode>
                <c:ptCount val="25"/>
                <c:pt idx="0">
                  <c:v>104</c:v>
                </c:pt>
                <c:pt idx="1">
                  <c:v>105</c:v>
                </c:pt>
                <c:pt idx="2">
                  <c:v>106</c:v>
                </c:pt>
                <c:pt idx="3">
                  <c:v>107</c:v>
                </c:pt>
                <c:pt idx="4">
                  <c:v>108</c:v>
                </c:pt>
                <c:pt idx="5">
                  <c:v>109</c:v>
                </c:pt>
                <c:pt idx="6">
                  <c:v>110</c:v>
                </c:pt>
                <c:pt idx="7">
                  <c:v>111</c:v>
                </c:pt>
                <c:pt idx="8">
                  <c:v>112</c:v>
                </c:pt>
                <c:pt idx="9">
                  <c:v>113</c:v>
                </c:pt>
                <c:pt idx="10">
                  <c:v>114</c:v>
                </c:pt>
                <c:pt idx="11">
                  <c:v>115</c:v>
                </c:pt>
                <c:pt idx="12">
                  <c:v>116</c:v>
                </c:pt>
                <c:pt idx="13">
                  <c:v>117</c:v>
                </c:pt>
                <c:pt idx="14">
                  <c:v>118</c:v>
                </c:pt>
                <c:pt idx="15">
                  <c:v>119</c:v>
                </c:pt>
                <c:pt idx="16">
                  <c:v>120</c:v>
                </c:pt>
                <c:pt idx="17">
                  <c:v>121</c:v>
                </c:pt>
                <c:pt idx="18">
                  <c:v>122</c:v>
                </c:pt>
                <c:pt idx="19">
                  <c:v>123</c:v>
                </c:pt>
                <c:pt idx="20">
                  <c:v>124</c:v>
                </c:pt>
                <c:pt idx="21">
                  <c:v>125</c:v>
                </c:pt>
                <c:pt idx="22">
                  <c:v>126</c:v>
                </c:pt>
                <c:pt idx="23">
                  <c:v>127</c:v>
                </c:pt>
                <c:pt idx="24">
                  <c:v>128</c:v>
                </c:pt>
              </c:numCache>
            </c:numRef>
          </c:cat>
          <c:val>
            <c:numRef>
              <c:f>'Chart Data'!$D$2:$D$26</c:f>
              <c:numCache>
                <c:formatCode>General</c:formatCode>
                <c:ptCount val="25"/>
                <c:pt idx="0">
                  <c:v>108.046177879888</c:v>
                </c:pt>
                <c:pt idx="1">
                  <c:v>108.046177879888</c:v>
                </c:pt>
                <c:pt idx="2">
                  <c:v>108.046177879888</c:v>
                </c:pt>
                <c:pt idx="3">
                  <c:v>108.046177879888</c:v>
                </c:pt>
                <c:pt idx="4">
                  <c:v>108.046177879888</c:v>
                </c:pt>
                <c:pt idx="5">
                  <c:v>104.079107788745</c:v>
                </c:pt>
                <c:pt idx="6">
                  <c:v>108.046177879888</c:v>
                </c:pt>
                <c:pt idx="7">
                  <c:v>109.124668519998</c:v>
                </c:pt>
                <c:pt idx="8">
                  <c:v>104.079107788745</c:v>
                </c:pt>
                <c:pt idx="9">
                  <c:v>104.079107788745</c:v>
                </c:pt>
                <c:pt idx="10">
                  <c:v>104.382305498355</c:v>
                </c:pt>
                <c:pt idx="11">
                  <c:v>122.838923023046</c:v>
                </c:pt>
                <c:pt idx="12">
                  <c:v>108.046177879888</c:v>
                </c:pt>
                <c:pt idx="13">
                  <c:v>108.046177879888</c:v>
                </c:pt>
                <c:pt idx="14">
                  <c:v>108.046177879888</c:v>
                </c:pt>
                <c:pt idx="15">
                  <c:v>108.046177879888</c:v>
                </c:pt>
                <c:pt idx="16">
                  <c:v>108.046177879888</c:v>
                </c:pt>
                <c:pt idx="17">
                  <c:v>108.046177879888</c:v>
                </c:pt>
                <c:pt idx="18">
                  <c:v>108.046177879888</c:v>
                </c:pt>
                <c:pt idx="19">
                  <c:v>108.046177879888</c:v>
                </c:pt>
                <c:pt idx="20">
                  <c:v>108.046177879888</c:v>
                </c:pt>
                <c:pt idx="21">
                  <c:v>108.046177879888</c:v>
                </c:pt>
                <c:pt idx="22">
                  <c:v>108.046177879888</c:v>
                </c:pt>
                <c:pt idx="23">
                  <c:v>108.046177879888</c:v>
                </c:pt>
                <c:pt idx="24">
                  <c:v>108.046177879888</c:v>
                </c:pt>
              </c:numCache>
            </c:numRef>
          </c:val>
        </c:ser>
        <c:ser>
          <c:idx val="2"/>
          <c:order val="2"/>
          <c:tx>
            <c:v>Persistence</c:v>
          </c:tx>
          <c:spPr>
            <a:ln xmlns:a="http://schemas.openxmlformats.org/drawingml/2006/main" w="19050">
              <a:solidFill>
                <a:srgbClr val="D78628"/>
              </a:solidFill>
              <a:prstDash val="solid"/>
            </a:ln>
          </c:spPr>
          <c:marker>
            <c:symbol val="none"/>
          </c:marker>
          <c:cat>
            <c:numRef>
              <c:f>'Chart Data'!$E$2:$E$26</c:f>
              <c:numCache>
                <c:formatCode>General</c:formatCode>
                <c:ptCount val="25"/>
                <c:pt idx="0">
                  <c:v>104</c:v>
                </c:pt>
                <c:pt idx="1">
                  <c:v>105</c:v>
                </c:pt>
                <c:pt idx="2">
                  <c:v>106</c:v>
                </c:pt>
                <c:pt idx="3">
                  <c:v>107</c:v>
                </c:pt>
                <c:pt idx="4">
                  <c:v>108</c:v>
                </c:pt>
                <c:pt idx="5">
                  <c:v>109</c:v>
                </c:pt>
                <c:pt idx="6">
                  <c:v>110</c:v>
                </c:pt>
                <c:pt idx="7">
                  <c:v>111</c:v>
                </c:pt>
                <c:pt idx="8">
                  <c:v>112</c:v>
                </c:pt>
                <c:pt idx="9">
                  <c:v>113</c:v>
                </c:pt>
                <c:pt idx="10">
                  <c:v>114</c:v>
                </c:pt>
                <c:pt idx="11">
                  <c:v>115</c:v>
                </c:pt>
                <c:pt idx="12">
                  <c:v>116</c:v>
                </c:pt>
                <c:pt idx="13">
                  <c:v>117</c:v>
                </c:pt>
                <c:pt idx="14">
                  <c:v>118</c:v>
                </c:pt>
                <c:pt idx="15">
                  <c:v>119</c:v>
                </c:pt>
                <c:pt idx="16">
                  <c:v>120</c:v>
                </c:pt>
                <c:pt idx="17">
                  <c:v>121</c:v>
                </c:pt>
                <c:pt idx="18">
                  <c:v>122</c:v>
                </c:pt>
                <c:pt idx="19">
                  <c:v>123</c:v>
                </c:pt>
                <c:pt idx="20">
                  <c:v>124</c:v>
                </c:pt>
                <c:pt idx="21">
                  <c:v>125</c:v>
                </c:pt>
                <c:pt idx="22">
                  <c:v>126</c:v>
                </c:pt>
                <c:pt idx="23">
                  <c:v>127</c:v>
                </c:pt>
                <c:pt idx="24">
                  <c:v>128</c:v>
                </c:pt>
              </c:numCache>
            </c:numRef>
          </c:cat>
          <c:val>
            <c:numRef>
              <c:f>'Chart Data'!$F$2:$F$26</c:f>
              <c:numCache>
                <c:formatCode>General</c:formatCode>
                <c:ptCount val="25"/>
                <c:pt idx="0">
                  <c:v>110.602409638554</c:v>
                </c:pt>
                <c:pt idx="1">
                  <c:v>106.047393007836</c:v>
                </c:pt>
                <c:pt idx="2">
                  <c:v>108.348717948718</c:v>
                </c:pt>
                <c:pt idx="3">
                  <c:v>114.157467532468</c:v>
                </c:pt>
                <c:pt idx="4">
                  <c:v>105.09375</c:v>
                </c:pt>
                <c:pt idx="5">
                  <c:v>115.900921658986</c:v>
                </c:pt>
                <c:pt idx="6">
                  <c:v>108.808374844334</c:v>
                </c:pt>
                <c:pt idx="7">
                  <c:v>101.907575757576</c:v>
                </c:pt>
                <c:pt idx="8">
                  <c:v>104.331067237847</c:v>
                </c:pt>
                <c:pt idx="9">
                  <c:v>108.07425833794</c:v>
                </c:pt>
                <c:pt idx="10">
                  <c:v>116.068965517241</c:v>
                </c:pt>
                <c:pt idx="11">
                  <c:v>113.873015873016</c:v>
                </c:pt>
                <c:pt idx="12">
                  <c:v>114.118782823602</c:v>
                </c:pt>
                <c:pt idx="13">
                  <c:v>109.605992085924</c:v>
                </c:pt>
                <c:pt idx="14">
                  <c:v>115.699189189189</c:v>
                </c:pt>
                <c:pt idx="15">
                  <c:v>108.746078431373</c:v>
                </c:pt>
                <c:pt idx="16">
                  <c:v>108.126582278481</c:v>
                </c:pt>
                <c:pt idx="17">
                  <c:v>113.94776574653</c:v>
                </c:pt>
                <c:pt idx="18">
                  <c:v>110.907692307692</c:v>
                </c:pt>
                <c:pt idx="19">
                  <c:v>111.566666666667</c:v>
                </c:pt>
                <c:pt idx="20">
                  <c:v>111</c:v>
                </c:pt>
                <c:pt idx="21">
                  <c:v>111.923793597707</c:v>
                </c:pt>
                <c:pt idx="22">
                  <c:v>111.874832663989</c:v>
                </c:pt>
                <c:pt idx="23">
                  <c:v>126.03488372093</c:v>
                </c:pt>
                <c:pt idx="24">
                  <c:v>127.90710241894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125">
                    <a:solidFill>
                      <a:srgbClr val="5C6D7D"/>
                    </a:solidFill>
                    <a:latin typeface="Arial"/>
                    <a:ea typeface="Arial"/>
                    <a:cs typeface="Arial"/>
                  </a:rPr>
                  <a:t>Elapsed minute</a:t>
                </a:r>
              </a:p>
            </c:rich>
          </c:tx>
          <c:overlay val="0"/>
          <c:txPr>
            <a:bodyPr xmlns:a="http://schemas.openxmlformats.org/drawingml/2006/main" anchorCtr="1"/>
            <a:lstStyle xmlns:a="http://schemas.openxmlformats.org/drawingml/2006/main"/>
            <a:p xmlns:a="http://schemas.openxmlformats.org/drawingml/2006/main">
              <a:pPr>
                <a:defRPr sz="1125">
                  <a:solidFill>
                    <a:srgbClr val="5C6D7D"/>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C6D7D"/>
                </a:solidFill>
                <a:latin typeface="Arial"/>
                <a:ea typeface="Arial"/>
                <a:cs typeface="Arial"/>
              </a:defRPr>
            </a:pPr>
          </a:p>
        </c:txPr>
        <c:crossAx val="48672768"/>
      </c:catAx>
      <c:valAx>
        <c:axId val="48672768"/>
        <c:scaling>
          <c:orientation val="minMax"/>
          <c:max val="135"/>
          <c:min val="95"/>
        </c:scaling>
        <c:delete val="0"/>
        <c:axPos val="l"/>
        <c:majorGridlines>
          <c:spPr>
            <a:ln xmlns:a="http://schemas.openxmlformats.org/drawingml/2006/main" w="9525">
              <a:solidFill>
                <a:srgbClr val="D6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5C6D7D"/>
                    </a:solidFill>
                    <a:latin typeface="Arial"/>
                    <a:ea typeface="Arial"/>
                    <a:cs typeface="Arial"/>
                  </a:rPr>
                  <a:t>Call rate (source units)</a:t>
                </a:r>
              </a:p>
            </c:rich>
          </c:tx>
          <c:overlay val="0"/>
          <c:txPr>
            <a:bodyPr xmlns:a="http://schemas.openxmlformats.org/drawingml/2006/main" anchorCtr="1"/>
            <a:lstStyle xmlns:a="http://schemas.openxmlformats.org/drawingml/2006/main"/>
            <a:p xmlns:a="http://schemas.openxmlformats.org/drawingml/2006/main">
              <a:pPr>
                <a:defRPr sz="1125">
                  <a:solidFill>
                    <a:srgbClr val="5C6D7D"/>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C6D7D"/>
                </a:solidFill>
                <a:latin typeface="Arial"/>
                <a:ea typeface="Arial"/>
                <a:cs typeface="Arial"/>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82A4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rpart</c:v>
          </c:tx>
          <c:spPr>
            <a:solidFill xmlns:a="http://schemas.openxmlformats.org/drawingml/2006/main">
              <a:srgbClr val="009AA6"/>
            </a:solidFill>
          </c:spPr>
          <c:cat>
            <c:strRef>
              <c:f>'Chart Data'!$A$2:$A$3</c:f>
              <c:strCache>
                <c:ptCount val="2"/>
                <c:pt idx="0">
                  <c:v>MAE</c:v>
                </c:pt>
                <c:pt idx="1">
                  <c:v>RMSE</c:v>
                </c:pt>
              </c:strCache>
            </c:strRef>
          </c:cat>
          <c:val>
            <c:numRef>
              <c:f>'Chart Data'!$B$2:$B$3</c:f>
              <c:numCache>
                <c:formatCode>General</c:formatCode>
                <c:ptCount val="2"/>
                <c:pt idx="0">
                  <c:v>5.8953</c:v>
                </c:pt>
                <c:pt idx="1">
                  <c:v>7.6174</c:v>
                </c:pt>
              </c:numCache>
            </c:numRef>
          </c:val>
        </c:ser>
        <c:ser>
          <c:idx val="1"/>
          <c:order val="1"/>
          <c:tx>
            <c:v>Persistence</c:v>
          </c:tx>
          <c:spPr>
            <a:solidFill xmlns:a="http://schemas.openxmlformats.org/drawingml/2006/main">
              <a:srgbClr val="D78628"/>
            </a:solidFill>
          </c:spPr>
          <c:cat>
            <c:strRef>
              <c:f>'Chart Data'!$C$2:$C$3</c:f>
              <c:strCache>
                <c:ptCount val="2"/>
                <c:pt idx="0">
                  <c:v>MAE</c:v>
                </c:pt>
                <c:pt idx="1">
                  <c:v>RMSE</c:v>
                </c:pt>
              </c:strCache>
            </c:strRef>
          </c:cat>
          <c:val>
            <c:numRef>
              <c:f>'Chart Data'!$D$2:$D$3</c:f>
              <c:numCache>
                <c:formatCode>General</c:formatCode>
                <c:ptCount val="2"/>
                <c:pt idx="0">
                  <c:v>4.8298</c:v>
                </c:pt>
                <c:pt idx="1">
                  <c:v>6.1731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82A42"/>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82A42"/>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6E1E8"/>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C6D7D"/>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82A42"/>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Overload intervals</c:v>
          </c:tx>
          <c:spPr>
            <a:solidFill xmlns:a="http://schemas.openxmlformats.org/drawingml/2006/main">
              <a:srgbClr val="D78628"/>
            </a:solidFill>
          </c:spPr>
          <c:cat>
            <c:strRef>
              <c:f>'Chart Data'!$A$2:$A$4</c:f>
              <c:strCache>
                <c:ptCount val="3"/>
                <c:pt idx="0">
                  <c:v>Fixed</c:v>
                </c:pt>
                <c:pt idx="1">
                  <c:v>Reactive</c:v>
                </c:pt>
                <c:pt idx="2">
                  <c:v>Predictive</c:v>
                </c:pt>
              </c:strCache>
            </c:strRef>
          </c:cat>
          <c:val>
            <c:numRef>
              <c:f>'Chart Data'!$B$2:$B$4</c:f>
              <c:numCache>
                <c:formatCode>General</c:formatCode>
                <c:ptCount val="3"/>
                <c:pt idx="0">
                  <c:v>11</c:v>
                </c:pt>
                <c:pt idx="1">
                  <c:v>1</c:v>
                </c:pt>
                <c:pt idx="2">
                  <c:v>1</c:v>
                </c:pt>
              </c:numCache>
            </c:numRef>
          </c:val>
        </c:ser>
        <c:dLbls>
          <c:txPr>
            <a:bodyPr xmlns:a="http://schemas.openxmlformats.org/drawingml/2006/main" anchorCtr="1"/>
            <a:lstStyle xmlns:a="http://schemas.openxmlformats.org/drawingml/2006/main"/>
            <a:p xmlns:a="http://schemas.openxmlformats.org/drawingml/2006/main">
              <a:pPr>
                <a:defRPr sz="1275">
                  <a:solidFill>
                    <a:srgbClr val="182A42"/>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82A42"/>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6E1E8"/>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C6D7D"/>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E5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652B62-5D52-4A88-BC7E-404D7EBD4CB7}"/>
              </a:ext>
            </a:extLst>
          </p:cNvPr>
          <p:cNvSpPr>
            <a:spLocks xmlns:a="http://schemas.openxmlformats.org/drawingml/2006/main" noGrp="1"/>
          </p:cNvSpPr>
          <p:nvPr/>
        </p:nvSpPr>
        <p:spPr>
          <a:xfrm xmlns:a="http://schemas.openxmlformats.org/drawingml/2006/main">
            <a:off x="685800" y="990600"/>
            <a:ext cx="76200" cy="4267200"/>
          </a:xfrm>
          <a:prstGeom xmlns:a="http://schemas.openxmlformats.org/drawingml/2006/main" prst="rect">
            <a:avLst/>
          </a:prstGeom>
          <a:solidFill xmlns:a="http://schemas.openxmlformats.org/drawingml/2006/main">
            <a:srgbClr val="009AA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F71BEF-EEB4-48EA-9F94-339B818B8A7F}"/>
              </a:ext>
            </a:extLst>
          </p:cNvPr>
          <p:cNvSpPr>
            <a:spLocks xmlns:a="http://schemas.openxmlformats.org/drawingml/2006/main" noGrp="1"/>
          </p:cNvSpPr>
          <p:nvPr/>
        </p:nvSpPr>
        <p:spPr>
          <a:xfrm xmlns:a="http://schemas.openxmlformats.org/drawingml/2006/main">
            <a:off x="1066800" y="1428750"/>
            <a:ext cx="9810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200" b="1">
                <a:solidFill>
                  <a:srgbClr val="FFFFFF"/>
                </a:solidFill>
                <a:latin typeface="Arial"/>
                <a:ea typeface="Arial"/>
                <a:cs typeface="Arial"/>
              </a:defRPr>
            </a:defPPr>
          </a:lstStyle>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Intelligent Autoscaling</a:t>
            </a:r>
          </a:p>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of Microservices</a:t>
            </a:r>
          </a:p>
        </p:txBody>
      </p:sp>
      <p:sp>
        <p:nvSpPr>
          <p:cNvPr id="3" name="">
            <a:extLst xmlns:a="http://schemas.openxmlformats.org/drawingml/2006/main">
              <a:ext uri="{FF2B5EF4-FFF2-40B4-BE49-F238E27FC236}">
                <a16:creationId xmlns:a16="http://schemas.microsoft.com/office/drawing/2014/main" id="{1C9482C8-C8B0-48AE-8FFE-645EC6066E24}"/>
              </a:ext>
            </a:extLst>
          </p:cNvPr>
          <p:cNvSpPr>
            <a:spLocks xmlns:a="http://schemas.openxmlformats.org/drawingml/2006/main" noGrp="1"/>
          </p:cNvSpPr>
          <p:nvPr/>
        </p:nvSpPr>
        <p:spPr>
          <a:xfrm xmlns:a="http://schemas.openxmlformats.org/drawingml/2006/main">
            <a:off x="1085850" y="3476625"/>
            <a:ext cx="9620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CDE9F0"/>
                </a:solidFill>
                <a:latin typeface="Arial"/>
                <a:ea typeface="Arial"/>
                <a:cs typeface="Arial"/>
              </a:defRPr>
            </a:defPPr>
          </a:lstStyle>
          <a:p xmlns:a="http://schemas.openxmlformats.org/drawingml/2006/main">
            <a:pPr algn="l">
              <a:defRPr sz="1875" b="0">
                <a:solidFill>
                  <a:srgbClr val="CDE9F0"/>
                </a:solidFill>
                <a:latin typeface="Arial"/>
                <a:ea typeface="Arial"/>
                <a:cs typeface="Arial"/>
              </a:defRPr>
            </a:pPr>
            <a:r>
              <a:rPr sz="1875" b="0">
                <a:solidFill>
                  <a:srgbClr val="CDE9F0"/>
                </a:solidFill>
                <a:latin typeface="Arial"/>
                <a:ea typeface="Arial"/>
                <a:cs typeface="Arial"/>
              </a:rPr>
              <a:t>Real Alibaba-derived trace  •  R Shiny forecast  •  simulated scaling replay</a:t>
            </a:r>
          </a:p>
        </p:txBody>
      </p:sp>
      <p:sp>
        <p:nvSpPr>
          <p:cNvPr id="4" name="">
            <a:extLst xmlns:a="http://schemas.openxmlformats.org/drawingml/2006/main">
              <a:ext uri="{FF2B5EF4-FFF2-40B4-BE49-F238E27FC236}">
                <a16:creationId xmlns:a16="http://schemas.microsoft.com/office/drawing/2014/main" id="{16AC6B4E-4F4A-46B8-BEB0-225BBF3B1493}"/>
              </a:ext>
            </a:extLst>
          </p:cNvPr>
          <p:cNvSpPr>
            <a:spLocks xmlns:a="http://schemas.openxmlformats.org/drawingml/2006/main" noGrp="1"/>
          </p:cNvSpPr>
          <p:nvPr/>
        </p:nvSpPr>
        <p:spPr>
          <a:xfrm xmlns:a="http://schemas.openxmlformats.org/drawingml/2006/main">
            <a:off x="1085850" y="5657850"/>
            <a:ext cx="609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FFFFFF"/>
                </a:solidFill>
                <a:latin typeface="Arial"/>
                <a:ea typeface="Arial"/>
                <a:cs typeface="Arial"/>
              </a:defRPr>
            </a:defPPr>
          </a:lstStyle>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10-slide presentation</a:t>
            </a:r>
          </a:p>
        </p:txBody>
      </p:sp>
    </p:spTree>
    <p:extLst>
      <p:ext uri="{BB962C8B-B14F-4D97-AF65-F5344CB8AC3E}">
        <p14:creationId xmlns:p14="http://schemas.microsoft.com/office/powerpoint/2010/main" val="1797822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030584-73D2-4BB5-80A9-6FF7F9C892B5}"/>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2E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F4794EF-6D39-4A0B-BDFF-880E455F01CC}"/>
              </a:ext>
            </a:extLst>
          </p:cNvPr>
          <p:cNvSpPr>
            <a:spLocks xmlns:a="http://schemas.openxmlformats.org/drawingml/2006/main" noGrp="1"/>
          </p:cNvSpPr>
          <p:nvPr/>
        </p:nvSpPr>
        <p:spPr>
          <a:xfrm xmlns:a="http://schemas.openxmlformats.org/drawingml/2006/main">
            <a:off x="666750" y="3810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625" b="1">
                <a:solidFill>
                  <a:srgbClr val="142E52"/>
                </a:solidFill>
                <a:latin typeface="Arial"/>
                <a:ea typeface="Arial"/>
                <a:cs typeface="Arial"/>
              </a:defRPr>
            </a:defPPr>
          </a:lstStyle>
          <a:p xmlns:a="http://schemas.openxmlformats.org/drawingml/2006/main">
            <a:pPr algn="l">
              <a:defRPr sz="2625" b="1">
                <a:solidFill>
                  <a:srgbClr val="142E52"/>
                </a:solidFill>
                <a:latin typeface="Arial"/>
                <a:ea typeface="Arial"/>
                <a:cs typeface="Arial"/>
              </a:defRPr>
            </a:pPr>
            <a:r>
              <a:rPr sz="2625" b="1">
                <a:solidFill>
                  <a:srgbClr val="142E52"/>
                </a:solidFill>
                <a:latin typeface="Arial"/>
                <a:ea typeface="Arial"/>
                <a:cs typeface="Arial"/>
              </a:rPr>
              <a:t>Autoscaling balances capacity and resource use</a:t>
            </a:r>
          </a:p>
        </p:txBody>
      </p:sp>
      <p:sp>
        <p:nvSpPr>
          <p:cNvPr id="3" name="">
            <a:extLst xmlns:a="http://schemas.openxmlformats.org/drawingml/2006/main">
              <a:ext uri="{FF2B5EF4-FFF2-40B4-BE49-F238E27FC236}">
                <a16:creationId xmlns:a16="http://schemas.microsoft.com/office/drawing/2014/main" id="{81245A79-50F1-43E1-B983-3E1CF5EDD34F}"/>
              </a:ext>
            </a:extLst>
          </p:cNvPr>
          <p:cNvSpPr>
            <a:spLocks xmlns:a="http://schemas.openxmlformats.org/drawingml/2006/main" noGrp="1"/>
          </p:cNvSpPr>
          <p:nvPr/>
        </p:nvSpPr>
        <p:spPr>
          <a:xfrm xmlns:a="http://schemas.openxmlformats.org/drawingml/2006/main">
            <a:off x="685800" y="10001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C6D7D"/>
                </a:solidFill>
                <a:latin typeface="Arial"/>
                <a:ea typeface="Arial"/>
                <a:cs typeface="Arial"/>
              </a:defRPr>
            </a:defPPr>
          </a:lstStyle>
          <a:p xmlns:a="http://schemas.openxmlformats.org/drawingml/2006/main">
            <a:pPr algn="l">
              <a:defRPr sz="1350" b="0">
                <a:solidFill>
                  <a:srgbClr val="5C6D7D"/>
                </a:solidFill>
                <a:latin typeface="Arial"/>
                <a:ea typeface="Arial"/>
                <a:cs typeface="Arial"/>
              </a:defRPr>
            </a:pPr>
            <a:r>
              <a:rPr sz="1350" b="0">
                <a:solidFill>
                  <a:srgbClr val="5C6D7D"/>
                </a:solidFill>
                <a:latin typeface="Arial"/>
                <a:ea typeface="Arial"/>
                <a:cs typeface="Arial"/>
              </a:rPr>
              <a:t>The same recorded traffic is replayed under different replica rules</a:t>
            </a:r>
          </a:p>
        </p:txBody>
      </p:sp>
      <p:sp>
        <p:nvSpPr>
          <p:cNvPr id="4" name="">
            <a:extLst xmlns:a="http://schemas.openxmlformats.org/drawingml/2006/main">
              <a:ext uri="{FF2B5EF4-FFF2-40B4-BE49-F238E27FC236}">
                <a16:creationId xmlns:a16="http://schemas.microsoft.com/office/drawing/2014/main" id="{94A9468E-8D83-44C4-BE2D-AD45CADA394B}"/>
              </a:ext>
            </a:extLst>
          </p:cNvPr>
          <p:cNvSpPr>
            <a:spLocks xmlns:a="http://schemas.openxmlformats.org/drawingml/2006/main" noGrp="1"/>
          </p:cNvSpPr>
          <p:nvPr/>
        </p:nvSpPr>
        <p:spPr>
          <a:xfrm xmlns:a="http://schemas.openxmlformats.org/drawingml/2006/main">
            <a:off x="666750" y="6286500"/>
            <a:ext cx="10858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763668E-2B16-4359-8591-C427710F6DB1}"/>
              </a:ext>
            </a:extLst>
          </p:cNvPr>
          <p:cNvSpPr>
            <a:spLocks xmlns:a="http://schemas.openxmlformats.org/drawingml/2006/main" noGrp="1"/>
          </p:cNvSpPr>
          <p:nvPr/>
        </p:nvSpPr>
        <p:spPr>
          <a:xfrm xmlns:a="http://schemas.openxmlformats.org/drawingml/2006/main">
            <a:off x="666750" y="63722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C6D7D"/>
                </a:solidFill>
                <a:latin typeface="Arial"/>
                <a:ea typeface="Arial"/>
                <a:cs typeface="Arial"/>
              </a:defRPr>
            </a:defPPr>
          </a:lstStyle>
          <a:p xmlns:a="http://schemas.openxmlformats.org/drawingml/2006/main">
            <a:pPr algn="l">
              <a:defRPr sz="975" b="0">
                <a:solidFill>
                  <a:srgbClr val="5C6D7D"/>
                </a:solidFill>
                <a:latin typeface="Arial"/>
                <a:ea typeface="Arial"/>
                <a:cs typeface="Arial"/>
              </a:defRPr>
            </a:pPr>
            <a:r>
              <a:rPr sz="975" b="0">
                <a:solidFill>
                  <a:srgbClr val="5C6D7D"/>
                </a:solidFill>
                <a:latin typeface="Arial"/>
                <a:ea typeface="Arial"/>
                <a:cs typeface="Arial"/>
              </a:rPr>
              <a:t>Intelligent Autoscaling of Microservices</a:t>
            </a:r>
          </a:p>
        </p:txBody>
      </p:sp>
      <p:sp>
        <p:nvSpPr>
          <p:cNvPr id="6" name="">
            <a:extLst xmlns:a="http://schemas.openxmlformats.org/drawingml/2006/main">
              <a:ext uri="{FF2B5EF4-FFF2-40B4-BE49-F238E27FC236}">
                <a16:creationId xmlns:a16="http://schemas.microsoft.com/office/drawing/2014/main" id="{CB8C7D5D-7258-4F43-BE5A-65454C6ED9F0}"/>
              </a:ext>
            </a:extLst>
          </p:cNvPr>
          <p:cNvSpPr>
            <a:spLocks xmlns:a="http://schemas.openxmlformats.org/drawingml/2006/main" noGrp="1"/>
          </p:cNvSpPr>
          <p:nvPr/>
        </p:nvSpPr>
        <p:spPr>
          <a:xfrm xmlns:a="http://schemas.openxmlformats.org/drawingml/2006/main">
            <a:off x="10991850" y="63531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C6D7D"/>
                </a:solidFill>
                <a:latin typeface="Arial"/>
                <a:ea typeface="Arial"/>
                <a:cs typeface="Arial"/>
              </a:defRPr>
            </a:defPPr>
          </a:lstStyle>
          <a:p xmlns:a="http://schemas.openxmlformats.org/drawingml/2006/main">
            <a:pPr algn="r">
              <a:defRPr sz="1050" b="1">
                <a:solidFill>
                  <a:srgbClr val="5C6D7D"/>
                </a:solidFill>
                <a:latin typeface="Arial"/>
                <a:ea typeface="Arial"/>
                <a:cs typeface="Arial"/>
              </a:defRPr>
            </a:pPr>
            <a:r>
              <a:rPr sz="1050" b="1">
                <a:solidFill>
                  <a:srgbClr val="5C6D7D"/>
                </a:solidFill>
                <a:latin typeface="Arial"/>
                <a:ea typeface="Arial"/>
                <a:cs typeface="Arial"/>
              </a:rPr>
              <a:t>02</a:t>
            </a:r>
          </a:p>
        </p:txBody>
      </p:sp>
      <p:graphicFrame>
        <p:nvGraphicFramePr>
          <p:cNvPr id="7" name="Chart">
            <a:extLst xmlns:a="http://schemas.openxmlformats.org/drawingml/2006/main">
              <a:ext uri="{FF2B5EF4-FFF2-40B4-BE49-F238E27FC236}">
                <a16:creationId xmlns:a16="http://schemas.microsoft.com/office/drawing/2014/main" id="{CC7AF9A5-85D0-4096-A297-705A7013F2CB}"/>
              </a:ext>
            </a:extLst>
          </p:cNvPr>
          <p:cNvGraphicFramePr/>
          <p:nvPr/>
        </p:nvGraphicFramePr>
        <p:xfrm>
          <a:off xmlns:a="http://schemas.openxmlformats.org/drawingml/2006/main" x="666750" y="1638300"/>
          <a:ext xmlns:a="http://schemas.openxmlformats.org/drawingml/2006/main" cx="7524750" cy="4095750"/>
        </p:xfrm>
        <a:graphic xmlns:a="http://schemas.openxmlformats.org/drawingml/2006/main">
          <a:graphicData uri="http://schemas.openxmlformats.org/drawingml/2006/chart">
            <c:chart xmlns:r="http://schemas.openxmlformats.org/officeDocument/2006/relationships" xmlns:c="http://schemas.openxmlformats.org/drawingml/2006/chart" r:id="R21448ac53f00467f"/>
          </a:graphicData>
        </a:graphic>
      </p:graphicFrame>
      <p:sp>
        <p:nvSpPr>
          <p:cNvPr id="8" name="">
            <a:extLst xmlns:a="http://schemas.openxmlformats.org/drawingml/2006/main">
              <a:ext uri="{FF2B5EF4-FFF2-40B4-BE49-F238E27FC236}">
                <a16:creationId xmlns:a16="http://schemas.microsoft.com/office/drawing/2014/main" id="{237636EC-9807-4CAB-B7CF-9538B488BFBA}"/>
              </a:ext>
            </a:extLst>
          </p:cNvPr>
          <p:cNvSpPr>
            <a:spLocks xmlns:a="http://schemas.openxmlformats.org/drawingml/2006/main" noGrp="1"/>
          </p:cNvSpPr>
          <p:nvPr/>
        </p:nvSpPr>
        <p:spPr>
          <a:xfrm xmlns:a="http://schemas.openxmlformats.org/drawingml/2006/main">
            <a:off x="8667750" y="20383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087F9C"/>
                </a:solidFill>
                <a:latin typeface="Arial"/>
                <a:ea typeface="Arial"/>
                <a:cs typeface="Arial"/>
              </a:defRPr>
            </a:defPPr>
          </a:lstStyle>
          <a:p xmlns:a="http://schemas.openxmlformats.org/drawingml/2006/main">
            <a:pPr algn="l">
              <a:defRPr sz="1275" b="1">
                <a:solidFill>
                  <a:srgbClr val="087F9C"/>
                </a:solidFill>
                <a:latin typeface="Arial"/>
                <a:ea typeface="Arial"/>
                <a:cs typeface="Arial"/>
              </a:defRPr>
            </a:pPr>
            <a:r>
              <a:rPr sz="1275" b="1">
                <a:solidFill>
                  <a:srgbClr val="087F9C"/>
                </a:solidFill>
                <a:latin typeface="Arial"/>
                <a:ea typeface="Arial"/>
                <a:cs typeface="Arial"/>
              </a:rPr>
              <a:t>The trade-off</a:t>
            </a:r>
          </a:p>
        </p:txBody>
      </p:sp>
      <p:sp>
        <p:nvSpPr>
          <p:cNvPr id="9" name="">
            <a:extLst xmlns:a="http://schemas.openxmlformats.org/drawingml/2006/main">
              <a:ext uri="{FF2B5EF4-FFF2-40B4-BE49-F238E27FC236}">
                <a16:creationId xmlns:a16="http://schemas.microsoft.com/office/drawing/2014/main" id="{A24257BF-F2B9-4E82-BD6A-F961F58B85BF}"/>
              </a:ext>
            </a:extLst>
          </p:cNvPr>
          <p:cNvSpPr>
            <a:spLocks xmlns:a="http://schemas.openxmlformats.org/drawingml/2006/main" noGrp="1"/>
          </p:cNvSpPr>
          <p:nvPr/>
        </p:nvSpPr>
        <p:spPr>
          <a:xfrm xmlns:a="http://schemas.openxmlformats.org/drawingml/2006/main">
            <a:off x="8667750" y="2466975"/>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0">
                <a:solidFill>
                  <a:srgbClr val="182A42"/>
                </a:solidFill>
                <a:latin typeface="Arial"/>
                <a:ea typeface="Arial"/>
                <a:cs typeface="Arial"/>
              </a:defRPr>
            </a:defPPr>
          </a:lstStyle>
          <a:p xmlns:a="http://schemas.openxmlformats.org/drawingml/2006/main">
            <a:pPr algn="l">
              <a:defRPr sz="1725" b="0">
                <a:solidFill>
                  <a:srgbClr val="182A42"/>
                </a:solidFill>
                <a:latin typeface="Arial"/>
                <a:ea typeface="Arial"/>
                <a:cs typeface="Arial"/>
              </a:defRPr>
            </a:pPr>
            <a:r>
              <a:rPr sz="1725" b="0">
                <a:solidFill>
                  <a:srgbClr val="182A42"/>
                </a:solidFill>
                <a:latin typeface="Arial"/>
                <a:ea typeface="Arial"/>
                <a:cs typeface="Arial"/>
              </a:rPr>
              <a:t>Too few replicas:</a:t>
            </a:r>
          </a:p>
          <a:p xmlns:a="http://schemas.openxmlformats.org/drawingml/2006/main">
            <a:pPr algn="l">
              <a:defRPr sz="1725" b="0">
                <a:solidFill>
                  <a:srgbClr val="182A42"/>
                </a:solidFill>
                <a:latin typeface="Arial"/>
                <a:ea typeface="Arial"/>
                <a:cs typeface="Arial"/>
              </a:defRPr>
            </a:pPr>
            <a:r>
              <a:rPr sz="1725" b="0">
                <a:solidFill>
                  <a:srgbClr val="182A42"/>
                </a:solidFill>
                <a:latin typeface="Arial"/>
                <a:ea typeface="Arial"/>
                <a:cs typeface="Arial"/>
              </a:rPr>
              <a:t>assumed capacity can be exceeded.</a:t>
            </a:r>
          </a:p>
        </p:txBody>
      </p:sp>
      <p:sp>
        <p:nvSpPr>
          <p:cNvPr id="10" name="">
            <a:extLst xmlns:a="http://schemas.openxmlformats.org/drawingml/2006/main">
              <a:ext uri="{FF2B5EF4-FFF2-40B4-BE49-F238E27FC236}">
                <a16:creationId xmlns:a16="http://schemas.microsoft.com/office/drawing/2014/main" id="{786E80DC-589C-46B4-8A8A-E795D2B7ACD2}"/>
              </a:ext>
            </a:extLst>
          </p:cNvPr>
          <p:cNvSpPr>
            <a:spLocks xmlns:a="http://schemas.openxmlformats.org/drawingml/2006/main" noGrp="1"/>
          </p:cNvSpPr>
          <p:nvPr/>
        </p:nvSpPr>
        <p:spPr>
          <a:xfrm xmlns:a="http://schemas.openxmlformats.org/drawingml/2006/main">
            <a:off x="8667750" y="3724275"/>
            <a:ext cx="266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0">
                <a:solidFill>
                  <a:srgbClr val="182A42"/>
                </a:solidFill>
                <a:latin typeface="Arial"/>
                <a:ea typeface="Arial"/>
                <a:cs typeface="Arial"/>
              </a:defRPr>
            </a:defPPr>
          </a:lstStyle>
          <a:p xmlns:a="http://schemas.openxmlformats.org/drawingml/2006/main">
            <a:pPr algn="l">
              <a:defRPr sz="1725" b="0">
                <a:solidFill>
                  <a:srgbClr val="182A42"/>
                </a:solidFill>
                <a:latin typeface="Arial"/>
                <a:ea typeface="Arial"/>
                <a:cs typeface="Arial"/>
              </a:defRPr>
            </a:pPr>
            <a:r>
              <a:rPr sz="1725" b="0">
                <a:solidFill>
                  <a:srgbClr val="182A42"/>
                </a:solidFill>
                <a:latin typeface="Arial"/>
                <a:ea typeface="Arial"/>
                <a:cs typeface="Arial"/>
              </a:rPr>
              <a:t>Too many replicas:</a:t>
            </a:r>
          </a:p>
          <a:p xmlns:a="http://schemas.openxmlformats.org/drawingml/2006/main">
            <a:pPr algn="l">
              <a:defRPr sz="1725" b="0">
                <a:solidFill>
                  <a:srgbClr val="182A42"/>
                </a:solidFill>
                <a:latin typeface="Arial"/>
                <a:ea typeface="Arial"/>
                <a:cs typeface="Arial"/>
              </a:defRPr>
            </a:pPr>
            <a:r>
              <a:rPr sz="1725" b="0">
                <a:solidFill>
                  <a:srgbClr val="182A42"/>
                </a:solidFill>
                <a:latin typeface="Arial"/>
                <a:ea typeface="Arial"/>
                <a:cs typeface="Arial"/>
              </a:rPr>
              <a:t>more simulated replica-minutes.</a:t>
            </a:r>
          </a:p>
        </p:txBody>
      </p:sp>
    </p:spTree>
    <p:extLst>
      <p:ext uri="{BB962C8B-B14F-4D97-AF65-F5344CB8AC3E}">
        <p14:creationId xmlns:p14="http://schemas.microsoft.com/office/powerpoint/2010/main" val="18715819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3F8ACA5-BCDE-453D-952D-B879826D0610}"/>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2E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4A291C-AF2D-4306-A4A1-66EDFDD520EC}"/>
              </a:ext>
            </a:extLst>
          </p:cNvPr>
          <p:cNvSpPr>
            <a:spLocks xmlns:a="http://schemas.openxmlformats.org/drawingml/2006/main" noGrp="1"/>
          </p:cNvSpPr>
          <p:nvPr/>
        </p:nvSpPr>
        <p:spPr>
          <a:xfrm xmlns:a="http://schemas.openxmlformats.org/drawingml/2006/main">
            <a:off x="666750" y="3810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625" b="1">
                <a:solidFill>
                  <a:srgbClr val="142E52"/>
                </a:solidFill>
                <a:latin typeface="Arial"/>
                <a:ea typeface="Arial"/>
                <a:cs typeface="Arial"/>
              </a:defRPr>
            </a:defPPr>
          </a:lstStyle>
          <a:p xmlns:a="http://schemas.openxmlformats.org/drawingml/2006/main">
            <a:pPr algn="l">
              <a:defRPr sz="2625" b="1">
                <a:solidFill>
                  <a:srgbClr val="142E52"/>
                </a:solidFill>
                <a:latin typeface="Arial"/>
                <a:ea typeface="Arial"/>
                <a:cs typeface="Arial"/>
              </a:defRPr>
            </a:pPr>
            <a:r>
              <a:rPr sz="2625" b="1">
                <a:solidFill>
                  <a:srgbClr val="142E52"/>
                </a:solidFill>
                <a:latin typeface="Arial"/>
                <a:ea typeface="Arial"/>
                <a:cs typeface="Arial"/>
              </a:rPr>
              <a:t>Real trace and service selection</a:t>
            </a:r>
          </a:p>
        </p:txBody>
      </p:sp>
      <p:sp>
        <p:nvSpPr>
          <p:cNvPr id="3" name="">
            <a:extLst xmlns:a="http://schemas.openxmlformats.org/drawingml/2006/main">
              <a:ext uri="{FF2B5EF4-FFF2-40B4-BE49-F238E27FC236}">
                <a16:creationId xmlns:a16="http://schemas.microsoft.com/office/drawing/2014/main" id="{83934FE6-111C-495C-80BC-D1CC47DF8850}"/>
              </a:ext>
            </a:extLst>
          </p:cNvPr>
          <p:cNvSpPr>
            <a:spLocks xmlns:a="http://schemas.openxmlformats.org/drawingml/2006/main" noGrp="1"/>
          </p:cNvSpPr>
          <p:nvPr/>
        </p:nvSpPr>
        <p:spPr>
          <a:xfrm xmlns:a="http://schemas.openxmlformats.org/drawingml/2006/main">
            <a:off x="685800" y="10001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C6D7D"/>
                </a:solidFill>
                <a:latin typeface="Arial"/>
                <a:ea typeface="Arial"/>
                <a:cs typeface="Arial"/>
              </a:defRPr>
            </a:defPPr>
          </a:lstStyle>
          <a:p xmlns:a="http://schemas.openxmlformats.org/drawingml/2006/main">
            <a:pPr algn="l">
              <a:defRPr sz="1350" b="0">
                <a:solidFill>
                  <a:srgbClr val="5C6D7D"/>
                </a:solidFill>
                <a:latin typeface="Arial"/>
                <a:ea typeface="Arial"/>
                <a:cs typeface="Arial"/>
              </a:defRPr>
            </a:pPr>
            <a:r>
              <a:rPr sz="1350" b="0">
                <a:solidFill>
                  <a:srgbClr val="5C6D7D"/>
                </a:solidFill>
                <a:latin typeface="Arial"/>
                <a:ea typeface="Arial"/>
                <a:cs typeface="Arial"/>
              </a:rPr>
              <a:t>No synthetic training observations or invented 30-second samples</a:t>
            </a:r>
          </a:p>
        </p:txBody>
      </p:sp>
      <p:sp>
        <p:nvSpPr>
          <p:cNvPr id="4" name="">
            <a:extLst xmlns:a="http://schemas.openxmlformats.org/drawingml/2006/main">
              <a:ext uri="{FF2B5EF4-FFF2-40B4-BE49-F238E27FC236}">
                <a16:creationId xmlns:a16="http://schemas.microsoft.com/office/drawing/2014/main" id="{3F0D1B1C-67D9-40E7-90DC-824915F13014}"/>
              </a:ext>
            </a:extLst>
          </p:cNvPr>
          <p:cNvSpPr>
            <a:spLocks xmlns:a="http://schemas.openxmlformats.org/drawingml/2006/main" noGrp="1"/>
          </p:cNvSpPr>
          <p:nvPr/>
        </p:nvSpPr>
        <p:spPr>
          <a:xfrm xmlns:a="http://schemas.openxmlformats.org/drawingml/2006/main">
            <a:off x="666750" y="6286500"/>
            <a:ext cx="10858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39FB861-4154-4D22-812E-C2073BDCB5B2}"/>
              </a:ext>
            </a:extLst>
          </p:cNvPr>
          <p:cNvSpPr>
            <a:spLocks xmlns:a="http://schemas.openxmlformats.org/drawingml/2006/main" noGrp="1"/>
          </p:cNvSpPr>
          <p:nvPr/>
        </p:nvSpPr>
        <p:spPr>
          <a:xfrm xmlns:a="http://schemas.openxmlformats.org/drawingml/2006/main">
            <a:off x="666750" y="63722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C6D7D"/>
                </a:solidFill>
                <a:latin typeface="Arial"/>
                <a:ea typeface="Arial"/>
                <a:cs typeface="Arial"/>
              </a:defRPr>
            </a:defPPr>
          </a:lstStyle>
          <a:p xmlns:a="http://schemas.openxmlformats.org/drawingml/2006/main">
            <a:pPr algn="l">
              <a:defRPr sz="975" b="0">
                <a:solidFill>
                  <a:srgbClr val="5C6D7D"/>
                </a:solidFill>
                <a:latin typeface="Arial"/>
                <a:ea typeface="Arial"/>
                <a:cs typeface="Arial"/>
              </a:defRPr>
            </a:pPr>
            <a:r>
              <a:rPr sz="975" b="0">
                <a:solidFill>
                  <a:srgbClr val="5C6D7D"/>
                </a:solidFill>
                <a:latin typeface="Arial"/>
                <a:ea typeface="Arial"/>
                <a:cs typeface="Arial"/>
              </a:rPr>
              <a:t>Intelligent Autoscaling of Microservices</a:t>
            </a:r>
          </a:p>
        </p:txBody>
      </p:sp>
      <p:sp>
        <p:nvSpPr>
          <p:cNvPr id="6" name="">
            <a:extLst xmlns:a="http://schemas.openxmlformats.org/drawingml/2006/main">
              <a:ext uri="{FF2B5EF4-FFF2-40B4-BE49-F238E27FC236}">
                <a16:creationId xmlns:a16="http://schemas.microsoft.com/office/drawing/2014/main" id="{A497B60D-03C9-4D2C-BE5A-A287506EDEE0}"/>
              </a:ext>
            </a:extLst>
          </p:cNvPr>
          <p:cNvSpPr>
            <a:spLocks xmlns:a="http://schemas.openxmlformats.org/drawingml/2006/main" noGrp="1"/>
          </p:cNvSpPr>
          <p:nvPr/>
        </p:nvSpPr>
        <p:spPr>
          <a:xfrm xmlns:a="http://schemas.openxmlformats.org/drawingml/2006/main">
            <a:off x="10991850" y="63531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C6D7D"/>
                </a:solidFill>
                <a:latin typeface="Arial"/>
                <a:ea typeface="Arial"/>
                <a:cs typeface="Arial"/>
              </a:defRPr>
            </a:defPPr>
          </a:lstStyle>
          <a:p xmlns:a="http://schemas.openxmlformats.org/drawingml/2006/main">
            <a:pPr algn="r">
              <a:defRPr sz="1050" b="1">
                <a:solidFill>
                  <a:srgbClr val="5C6D7D"/>
                </a:solidFill>
                <a:latin typeface="Arial"/>
                <a:ea typeface="Arial"/>
                <a:cs typeface="Arial"/>
              </a:defRPr>
            </a:pPr>
            <a:r>
              <a:rPr sz="1050" b="1">
                <a:solidFill>
                  <a:srgbClr val="5C6D7D"/>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E6E2B027-A820-4096-885D-7A224E5633F9}"/>
              </a:ext>
            </a:extLst>
          </p:cNvPr>
          <p:cNvSpPr>
            <a:spLocks xmlns:a="http://schemas.openxmlformats.org/drawingml/2006/main" noGrp="1"/>
          </p:cNvSpPr>
          <p:nvPr/>
        </p:nvSpPr>
        <p:spPr>
          <a:xfrm xmlns:a="http://schemas.openxmlformats.org/drawingml/2006/main">
            <a:off x="714375" y="1762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087F9C"/>
                </a:solidFill>
                <a:latin typeface="Arial"/>
                <a:ea typeface="Arial"/>
                <a:cs typeface="Arial"/>
              </a:defRPr>
            </a:defPPr>
          </a:lstStyle>
          <a:p xmlns:a="http://schemas.openxmlformats.org/drawingml/2006/main">
            <a:pPr algn="l">
              <a:defRPr sz="1275" b="1">
                <a:solidFill>
                  <a:srgbClr val="087F9C"/>
                </a:solidFill>
                <a:latin typeface="Arial"/>
                <a:ea typeface="Arial"/>
                <a:cs typeface="Arial"/>
              </a:defRPr>
            </a:pPr>
            <a:r>
              <a:rPr sz="1275" b="1">
                <a:solidFill>
                  <a:srgbClr val="087F9C"/>
                </a:solidFill>
                <a:latin typeface="Arial"/>
                <a:ea typeface="Arial"/>
                <a:cs typeface="Arial"/>
              </a:rPr>
              <a:t>SOURCE</a:t>
            </a:r>
          </a:p>
        </p:txBody>
      </p:sp>
      <p:sp>
        <p:nvSpPr>
          <p:cNvPr id="8" name="">
            <a:extLst xmlns:a="http://schemas.openxmlformats.org/drawingml/2006/main">
              <a:ext uri="{FF2B5EF4-FFF2-40B4-BE49-F238E27FC236}">
                <a16:creationId xmlns:a16="http://schemas.microsoft.com/office/drawing/2014/main" id="{E8E0D8BA-017B-4E36-8CB1-5D57AE5E784F}"/>
              </a:ext>
            </a:extLst>
          </p:cNvPr>
          <p:cNvSpPr>
            <a:spLocks xmlns:a="http://schemas.openxmlformats.org/drawingml/2006/main" noGrp="1"/>
          </p:cNvSpPr>
          <p:nvPr/>
        </p:nvSpPr>
        <p:spPr>
          <a:xfrm xmlns:a="http://schemas.openxmlformats.org/drawingml/2006/main">
            <a:off x="714375" y="21431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0">
                <a:solidFill>
                  <a:srgbClr val="182A42"/>
                </a:solidFill>
                <a:latin typeface="Arial"/>
                <a:ea typeface="Arial"/>
                <a:cs typeface="Arial"/>
              </a:defRPr>
            </a:defPPr>
          </a:lstStyle>
          <a:p xmlns:a="http://schemas.openxmlformats.org/drawingml/2006/main">
            <a:pPr algn="l">
              <a:defRPr sz="2025" b="0">
                <a:solidFill>
                  <a:srgbClr val="182A42"/>
                </a:solidFill>
                <a:latin typeface="Arial"/>
                <a:ea typeface="Arial"/>
                <a:cs typeface="Arial"/>
              </a:defRPr>
            </a:pPr>
            <a:r>
              <a:rPr sz="2025" b="0">
                <a:solidFill>
                  <a:srgbClr val="182A42"/>
                </a:solidFill>
                <a:latin typeface="Arial"/>
                <a:ea typeface="Arial"/>
                <a:cs typeface="Arial"/>
              </a:rPr>
              <a:t>Zenodo v3: Mehran et al.</a:t>
            </a:r>
          </a:p>
          <a:p xmlns:a="http://schemas.openxmlformats.org/drawingml/2006/main">
            <a:pPr algn="l">
              <a:defRPr sz="2025" b="0">
                <a:solidFill>
                  <a:srgbClr val="182A42"/>
                </a:solidFill>
                <a:latin typeface="Arial"/>
                <a:ea typeface="Arial"/>
                <a:cs typeface="Arial"/>
              </a:defRPr>
            </a:pPr>
            <a:r>
              <a:rPr sz="2025" b="0">
                <a:solidFill>
                  <a:srgbClr val="182A42"/>
                </a:solidFill>
                <a:latin typeface="Arial"/>
                <a:ea typeface="Arial"/>
                <a:cs typeface="Arial"/>
              </a:rPr>
              <a:t>Alibaba 2021-derived microservice trace</a:t>
            </a:r>
          </a:p>
        </p:txBody>
      </p:sp>
      <p:sp>
        <p:nvSpPr>
          <p:cNvPr id="9" name="">
            <a:extLst xmlns:a="http://schemas.openxmlformats.org/drawingml/2006/main">
              <a:ext uri="{FF2B5EF4-FFF2-40B4-BE49-F238E27FC236}">
                <a16:creationId xmlns:a16="http://schemas.microsoft.com/office/drawing/2014/main" id="{B9330ED3-7499-4E9E-BE09-E36B7A81BFBF}"/>
              </a:ext>
            </a:extLst>
          </p:cNvPr>
          <p:cNvSpPr>
            <a:spLocks xmlns:a="http://schemas.openxmlformats.org/drawingml/2006/main" noGrp="1"/>
          </p:cNvSpPr>
          <p:nvPr/>
        </p:nvSpPr>
        <p:spPr>
          <a:xfrm xmlns:a="http://schemas.openxmlformats.org/drawingml/2006/main">
            <a:off x="714375" y="3381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087F9C"/>
                </a:solidFill>
                <a:latin typeface="Arial"/>
                <a:ea typeface="Arial"/>
                <a:cs typeface="Arial"/>
              </a:defRPr>
            </a:defPPr>
          </a:lstStyle>
          <a:p xmlns:a="http://schemas.openxmlformats.org/drawingml/2006/main">
            <a:pPr algn="l">
              <a:defRPr sz="1275" b="1">
                <a:solidFill>
                  <a:srgbClr val="087F9C"/>
                </a:solidFill>
                <a:latin typeface="Arial"/>
                <a:ea typeface="Arial"/>
                <a:cs typeface="Arial"/>
              </a:defRPr>
            </a:pPr>
            <a:r>
              <a:rPr sz="1275" b="1">
                <a:solidFill>
                  <a:srgbClr val="087F9C"/>
                </a:solidFill>
                <a:latin typeface="Arial"/>
                <a:ea typeface="Arial"/>
                <a:cs typeface="Arial"/>
              </a:rPr>
              <a:t>CSV STRUCTURE</a:t>
            </a:r>
          </a:p>
        </p:txBody>
      </p:sp>
      <p:sp>
        <p:nvSpPr>
          <p:cNvPr id="10" name="">
            <a:extLst xmlns:a="http://schemas.openxmlformats.org/drawingml/2006/main">
              <a:ext uri="{FF2B5EF4-FFF2-40B4-BE49-F238E27FC236}">
                <a16:creationId xmlns:a16="http://schemas.microsoft.com/office/drawing/2014/main" id="{B2423707-5FE8-47DE-A23F-496FE3EE3233}"/>
              </a:ext>
            </a:extLst>
          </p:cNvPr>
          <p:cNvSpPr>
            <a:spLocks xmlns:a="http://schemas.openxmlformats.org/drawingml/2006/main" noGrp="1"/>
          </p:cNvSpPr>
          <p:nvPr/>
        </p:nvSpPr>
        <p:spPr>
          <a:xfrm xmlns:a="http://schemas.openxmlformats.org/drawingml/2006/main">
            <a:off x="714375" y="3762375"/>
            <a:ext cx="5095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182A42"/>
                </a:solidFill>
                <a:latin typeface="Arial"/>
                <a:ea typeface="Arial"/>
                <a:cs typeface="Arial"/>
              </a:defRPr>
            </a:defPPr>
          </a:lstStyle>
          <a:p xmlns:a="http://schemas.openxmlformats.org/drawingml/2006/main">
            <a:pPr algn="l">
              <a:defRPr sz="1800" b="0">
                <a:solidFill>
                  <a:srgbClr val="182A42"/>
                </a:solidFill>
                <a:latin typeface="Arial"/>
                <a:ea typeface="Arial"/>
                <a:cs typeface="Arial"/>
              </a:defRPr>
            </a:pPr>
            <a:r>
              <a:rPr sz="1800" b="0">
                <a:solidFill>
                  <a:srgbClr val="182A42"/>
                </a:solidFill>
                <a:latin typeface="Arial"/>
                <a:ea typeface="Arial"/>
                <a:cs typeface="Arial"/>
              </a:rPr>
              <a:t>Two timestamps • service ID • container ID</a:t>
            </a:r>
          </a:p>
          <a:p xmlns:a="http://schemas.openxmlformats.org/drawingml/2006/main">
            <a:pPr algn="l">
              <a:defRPr sz="1800" b="0">
                <a:solidFill>
                  <a:srgbClr val="182A42"/>
                </a:solidFill>
                <a:latin typeface="Arial"/>
                <a:ea typeface="Arial"/>
                <a:cs typeface="Arial"/>
              </a:defRPr>
            </a:pPr>
            <a:r>
              <a:rPr sz="1800" b="0">
                <a:solidFill>
                  <a:srgbClr val="182A42"/>
                </a:solidFill>
                <a:latin typeface="Arial"/>
                <a:ea typeface="Arial"/>
                <a:cs typeface="Arial"/>
              </a:rPr>
              <a:t>reported replicas • service time • call rate</a:t>
            </a:r>
          </a:p>
        </p:txBody>
      </p:sp>
      <p:sp>
        <p:nvSpPr>
          <p:cNvPr id="11" name="">
            <a:extLst xmlns:a="http://schemas.openxmlformats.org/drawingml/2006/main">
              <a:ext uri="{FF2B5EF4-FFF2-40B4-BE49-F238E27FC236}">
                <a16:creationId xmlns:a16="http://schemas.microsoft.com/office/drawing/2014/main" id="{900A9415-0A98-472F-80D1-90C6440C79CA}"/>
              </a:ext>
            </a:extLst>
          </p:cNvPr>
          <p:cNvSpPr>
            <a:spLocks xmlns:a="http://schemas.openxmlformats.org/drawingml/2006/main" noGrp="1"/>
          </p:cNvSpPr>
          <p:nvPr/>
        </p:nvSpPr>
        <p:spPr>
          <a:xfrm xmlns:a="http://schemas.openxmlformats.org/drawingml/2006/main">
            <a:off x="6191250" y="1714500"/>
            <a:ext cx="9525" cy="361950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0BD304-4C84-4470-A47D-F140AB6A0AA8}"/>
              </a:ext>
            </a:extLst>
          </p:cNvPr>
          <p:cNvSpPr>
            <a:spLocks xmlns:a="http://schemas.openxmlformats.org/drawingml/2006/main" noGrp="1"/>
          </p:cNvSpPr>
          <p:nvPr/>
        </p:nvSpPr>
        <p:spPr>
          <a:xfrm xmlns:a="http://schemas.openxmlformats.org/drawingml/2006/main">
            <a:off x="6667500" y="182880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650" b="1">
                <a:solidFill>
                  <a:srgbClr val="142E52"/>
                </a:solidFill>
                <a:latin typeface="Arial"/>
                <a:ea typeface="Arial"/>
                <a:cs typeface="Arial"/>
              </a:defRPr>
            </a:defPPr>
          </a:lstStyle>
          <a:p xmlns:a="http://schemas.openxmlformats.org/drawingml/2006/main">
            <a:pPr algn="l">
              <a:defRPr sz="4650" b="1">
                <a:solidFill>
                  <a:srgbClr val="142E52"/>
                </a:solidFill>
                <a:latin typeface="Arial"/>
                <a:ea typeface="Arial"/>
                <a:cs typeface="Arial"/>
              </a:defRPr>
            </a:pPr>
            <a:r>
              <a:rPr sz="4650" b="1">
                <a:solidFill>
                  <a:srgbClr val="142E52"/>
                </a:solidFill>
                <a:latin typeface="Arial"/>
                <a:ea typeface="Arial"/>
                <a:cs typeface="Arial"/>
              </a:rPr>
              <a:t>129</a:t>
            </a:r>
          </a:p>
        </p:txBody>
      </p:sp>
      <p:sp>
        <p:nvSpPr>
          <p:cNvPr id="13" name="">
            <a:extLst xmlns:a="http://schemas.openxmlformats.org/drawingml/2006/main">
              <a:ext uri="{FF2B5EF4-FFF2-40B4-BE49-F238E27FC236}">
                <a16:creationId xmlns:a16="http://schemas.microsoft.com/office/drawing/2014/main" id="{F6313D76-8F0A-48E9-9A9B-44E4891AA149}"/>
              </a:ext>
            </a:extLst>
          </p:cNvPr>
          <p:cNvSpPr>
            <a:spLocks xmlns:a="http://schemas.openxmlformats.org/drawingml/2006/main" noGrp="1"/>
          </p:cNvSpPr>
          <p:nvPr/>
        </p:nvSpPr>
        <p:spPr>
          <a:xfrm xmlns:a="http://schemas.openxmlformats.org/drawingml/2006/main">
            <a:off x="6705600" y="2638425"/>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5C6D7D"/>
                </a:solidFill>
                <a:latin typeface="Arial"/>
                <a:ea typeface="Arial"/>
                <a:cs typeface="Arial"/>
              </a:defRPr>
            </a:defPPr>
          </a:lstStyle>
          <a:p xmlns:a="http://schemas.openxmlformats.org/drawingml/2006/main">
            <a:pPr algn="l">
              <a:defRPr sz="1800" b="0">
                <a:solidFill>
                  <a:srgbClr val="5C6D7D"/>
                </a:solidFill>
                <a:latin typeface="Arial"/>
                <a:ea typeface="Arial"/>
                <a:cs typeface="Arial"/>
              </a:defRPr>
            </a:pPr>
            <a:r>
              <a:rPr sz="1800" b="0">
                <a:solidFill>
                  <a:srgbClr val="5C6D7D"/>
                </a:solidFill>
                <a:latin typeface="Arial"/>
                <a:ea typeface="Arial"/>
                <a:cs typeface="Arial"/>
              </a:rPr>
              <a:t>contiguous observed minute buckets</a:t>
            </a:r>
          </a:p>
        </p:txBody>
      </p:sp>
      <p:sp>
        <p:nvSpPr>
          <p:cNvPr id="14" name="">
            <a:extLst xmlns:a="http://schemas.openxmlformats.org/drawingml/2006/main">
              <a:ext uri="{FF2B5EF4-FFF2-40B4-BE49-F238E27FC236}">
                <a16:creationId xmlns:a16="http://schemas.microsoft.com/office/drawing/2014/main" id="{5D1B47FF-08AB-4F34-94DD-9D6C76F4653A}"/>
              </a:ext>
            </a:extLst>
          </p:cNvPr>
          <p:cNvSpPr>
            <a:spLocks xmlns:a="http://schemas.openxmlformats.org/drawingml/2006/main" noGrp="1"/>
          </p:cNvSpPr>
          <p:nvPr/>
        </p:nvSpPr>
        <p:spPr>
          <a:xfrm xmlns:a="http://schemas.openxmlformats.org/drawingml/2006/main">
            <a:off x="6667500" y="36195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182A42"/>
                </a:solidFill>
                <a:latin typeface="Arial"/>
                <a:ea typeface="Arial"/>
                <a:cs typeface="Arial"/>
              </a:defRPr>
            </a:defPPr>
          </a:lstStyle>
          <a:p xmlns:a="http://schemas.openxmlformats.org/drawingml/2006/main">
            <a:pPr algn="l">
              <a:defRPr sz="1875" b="0">
                <a:solidFill>
                  <a:srgbClr val="182A42"/>
                </a:solidFill>
                <a:latin typeface="Arial"/>
                <a:ea typeface="Arial"/>
                <a:cs typeface="Arial"/>
              </a:defRPr>
            </a:pPr>
            <a:r>
              <a:rPr sz="1875" b="0">
                <a:solidFill>
                  <a:srgbClr val="182A42"/>
                </a:solidFill>
                <a:latin typeface="Arial"/>
                <a:ea typeface="Arial"/>
                <a:cs typeface="Arial"/>
              </a:rPr>
              <a:t>1,583 raw rows → 784 distinct container/time observations</a:t>
            </a:r>
          </a:p>
        </p:txBody>
      </p:sp>
      <p:sp>
        <p:nvSpPr>
          <p:cNvPr id="15" name="">
            <a:extLst xmlns:a="http://schemas.openxmlformats.org/drawingml/2006/main">
              <a:ext uri="{FF2B5EF4-FFF2-40B4-BE49-F238E27FC236}">
                <a16:creationId xmlns:a16="http://schemas.microsoft.com/office/drawing/2014/main" id="{EAB2C625-C8D9-4576-B1B1-1B30ADADE913}"/>
              </a:ext>
            </a:extLst>
          </p:cNvPr>
          <p:cNvSpPr>
            <a:spLocks xmlns:a="http://schemas.openxmlformats.org/drawingml/2006/main" noGrp="1"/>
          </p:cNvSpPr>
          <p:nvPr/>
        </p:nvSpPr>
        <p:spPr>
          <a:xfrm xmlns:a="http://schemas.openxmlformats.org/drawingml/2006/main">
            <a:off x="6667500" y="47339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C6D7D"/>
                </a:solidFill>
                <a:latin typeface="Arial"/>
                <a:ea typeface="Arial"/>
                <a:cs typeface="Arial"/>
              </a:defRPr>
            </a:defPPr>
          </a:lstStyle>
          <a:p xmlns:a="http://schemas.openxmlformats.org/drawingml/2006/main">
            <a:pPr algn="l">
              <a:defRPr sz="1500" b="0">
                <a:solidFill>
                  <a:srgbClr val="5C6D7D"/>
                </a:solidFill>
                <a:latin typeface="Arial"/>
                <a:ea typeface="Arial"/>
                <a:cs typeface="Arial"/>
              </a:defRPr>
            </a:pPr>
            <a:r>
              <a:rPr sz="1500" b="0">
                <a:solidFill>
                  <a:srgbClr val="5C6D7D"/>
                </a:solidFill>
                <a:latin typeface="Arial"/>
                <a:ea typeface="Arial"/>
                <a:cs typeface="Arial"/>
              </a:rPr>
              <a:t>Repeated rows collapsed; median across containers. Missing intervals remain missing.</a:t>
            </a:r>
          </a:p>
        </p:txBody>
      </p:sp>
      <p:sp>
        <p:nvSpPr>
          <p:cNvPr id="16" name="">
            <a:extLst xmlns:a="http://schemas.openxmlformats.org/drawingml/2006/main">
              <a:ext uri="{FF2B5EF4-FFF2-40B4-BE49-F238E27FC236}">
                <a16:creationId xmlns:a16="http://schemas.microsoft.com/office/drawing/2014/main" id="{5D95BA6C-A9F1-4FC4-9EB3-80594CFC582C}"/>
              </a:ext>
            </a:extLst>
          </p:cNvPr>
          <p:cNvSpPr>
            <a:spLocks xmlns:a="http://schemas.openxmlformats.org/drawingml/2006/main" noGrp="1"/>
          </p:cNvSpPr>
          <p:nvPr/>
        </p:nvSpPr>
        <p:spPr>
          <a:xfrm xmlns:a="http://schemas.openxmlformats.org/drawingml/2006/main">
            <a:off x="714375" y="56197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D78628"/>
                </a:solidFill>
                <a:latin typeface="Arial"/>
                <a:ea typeface="Arial"/>
                <a:cs typeface="Arial"/>
              </a:defRPr>
            </a:defPPr>
          </a:lstStyle>
          <a:p xmlns:a="http://schemas.openxmlformats.org/drawingml/2006/main">
            <a:pPr algn="l">
              <a:defRPr sz="1350" b="1">
                <a:solidFill>
                  <a:srgbClr val="D78628"/>
                </a:solidFill>
                <a:latin typeface="Arial"/>
                <a:ea typeface="Arial"/>
                <a:cs typeface="Arial"/>
              </a:defRPr>
            </a:pPr>
            <a:r>
              <a:rPr sz="1350" b="1">
                <a:solidFill>
                  <a:srgbClr val="D78628"/>
                </a:solidFill>
                <a:latin typeface="Arial"/>
                <a:ea typeface="Arial"/>
                <a:cs typeface="Arial"/>
              </a:rPr>
              <a:t>Observed second-timestamp step: 60,000 units ≈ one minute if milliseconds.</a:t>
            </a:r>
          </a:p>
        </p:txBody>
      </p:sp>
    </p:spTree>
    <p:extLst>
      <p:ext uri="{BB962C8B-B14F-4D97-AF65-F5344CB8AC3E}">
        <p14:creationId xmlns:p14="http://schemas.microsoft.com/office/powerpoint/2010/main" val="12195910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5359DC6-4DE9-4DAB-A830-D954B22367A6}"/>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2E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F27BFA-454B-49B7-9DFF-65105030EBD6}"/>
              </a:ext>
            </a:extLst>
          </p:cNvPr>
          <p:cNvSpPr>
            <a:spLocks xmlns:a="http://schemas.openxmlformats.org/drawingml/2006/main" noGrp="1"/>
          </p:cNvSpPr>
          <p:nvPr/>
        </p:nvSpPr>
        <p:spPr>
          <a:xfrm xmlns:a="http://schemas.openxmlformats.org/drawingml/2006/main">
            <a:off x="666750" y="3810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625" b="1">
                <a:solidFill>
                  <a:srgbClr val="142E52"/>
                </a:solidFill>
                <a:latin typeface="Arial"/>
                <a:ea typeface="Arial"/>
                <a:cs typeface="Arial"/>
              </a:defRPr>
            </a:defPPr>
          </a:lstStyle>
          <a:p xmlns:a="http://schemas.openxmlformats.org/drawingml/2006/main">
            <a:pPr algn="l">
              <a:defRPr sz="2625" b="1">
                <a:solidFill>
                  <a:srgbClr val="142E52"/>
                </a:solidFill>
                <a:latin typeface="Arial"/>
                <a:ea typeface="Arial"/>
                <a:cs typeface="Arial"/>
              </a:defRPr>
            </a:pPr>
            <a:r>
              <a:rPr sz="2625" b="1">
                <a:solidFill>
                  <a:srgbClr val="142E52"/>
                </a:solidFill>
                <a:latin typeface="Arial"/>
                <a:ea typeface="Arial"/>
                <a:cs typeface="Arial"/>
              </a:rPr>
              <a:t>A one-step forecast with past-only features</a:t>
            </a:r>
          </a:p>
        </p:txBody>
      </p:sp>
      <p:sp>
        <p:nvSpPr>
          <p:cNvPr id="3" name="">
            <a:extLst xmlns:a="http://schemas.openxmlformats.org/drawingml/2006/main">
              <a:ext uri="{FF2B5EF4-FFF2-40B4-BE49-F238E27FC236}">
                <a16:creationId xmlns:a16="http://schemas.microsoft.com/office/drawing/2014/main" id="{EE91C901-1613-4E43-B23B-AC06E455BAC3}"/>
              </a:ext>
            </a:extLst>
          </p:cNvPr>
          <p:cNvSpPr>
            <a:spLocks xmlns:a="http://schemas.openxmlformats.org/drawingml/2006/main" noGrp="1"/>
          </p:cNvSpPr>
          <p:nvPr/>
        </p:nvSpPr>
        <p:spPr>
          <a:xfrm xmlns:a="http://schemas.openxmlformats.org/drawingml/2006/main">
            <a:off x="685800" y="10001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C6D7D"/>
                </a:solidFill>
                <a:latin typeface="Arial"/>
                <a:ea typeface="Arial"/>
                <a:cs typeface="Arial"/>
              </a:defRPr>
            </a:defPPr>
          </a:lstStyle>
          <a:p xmlns:a="http://schemas.openxmlformats.org/drawingml/2006/main">
            <a:pPr algn="l">
              <a:defRPr sz="1350" b="0">
                <a:solidFill>
                  <a:srgbClr val="5C6D7D"/>
                </a:solidFill>
                <a:latin typeface="Arial"/>
                <a:ea typeface="Arial"/>
                <a:cs typeface="Arial"/>
              </a:defRPr>
            </a:pPr>
            <a:r>
              <a:rPr sz="1350" b="0">
                <a:solidFill>
                  <a:srgbClr val="5C6D7D"/>
                </a:solidFill>
                <a:latin typeface="Arial"/>
                <a:ea typeface="Arial"/>
                <a:cs typeface="Arial"/>
              </a:rPr>
              <a:t>Predict call rate at t + 1 from values available at t</a:t>
            </a:r>
          </a:p>
        </p:txBody>
      </p:sp>
      <p:sp>
        <p:nvSpPr>
          <p:cNvPr id="4" name="">
            <a:extLst xmlns:a="http://schemas.openxmlformats.org/drawingml/2006/main">
              <a:ext uri="{FF2B5EF4-FFF2-40B4-BE49-F238E27FC236}">
                <a16:creationId xmlns:a16="http://schemas.microsoft.com/office/drawing/2014/main" id="{AEED8682-80D0-48B7-9192-7976112FA0F9}"/>
              </a:ext>
            </a:extLst>
          </p:cNvPr>
          <p:cNvSpPr>
            <a:spLocks xmlns:a="http://schemas.openxmlformats.org/drawingml/2006/main" noGrp="1"/>
          </p:cNvSpPr>
          <p:nvPr/>
        </p:nvSpPr>
        <p:spPr>
          <a:xfrm xmlns:a="http://schemas.openxmlformats.org/drawingml/2006/main">
            <a:off x="666750" y="6286500"/>
            <a:ext cx="10858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2E5640A-A34A-4404-B7B4-E065E00E2F5E}"/>
              </a:ext>
            </a:extLst>
          </p:cNvPr>
          <p:cNvSpPr>
            <a:spLocks xmlns:a="http://schemas.openxmlformats.org/drawingml/2006/main" noGrp="1"/>
          </p:cNvSpPr>
          <p:nvPr/>
        </p:nvSpPr>
        <p:spPr>
          <a:xfrm xmlns:a="http://schemas.openxmlformats.org/drawingml/2006/main">
            <a:off x="666750" y="63722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C6D7D"/>
                </a:solidFill>
                <a:latin typeface="Arial"/>
                <a:ea typeface="Arial"/>
                <a:cs typeface="Arial"/>
              </a:defRPr>
            </a:defPPr>
          </a:lstStyle>
          <a:p xmlns:a="http://schemas.openxmlformats.org/drawingml/2006/main">
            <a:pPr algn="l">
              <a:defRPr sz="975" b="0">
                <a:solidFill>
                  <a:srgbClr val="5C6D7D"/>
                </a:solidFill>
                <a:latin typeface="Arial"/>
                <a:ea typeface="Arial"/>
                <a:cs typeface="Arial"/>
              </a:defRPr>
            </a:pPr>
            <a:r>
              <a:rPr sz="975" b="0">
                <a:solidFill>
                  <a:srgbClr val="5C6D7D"/>
                </a:solidFill>
                <a:latin typeface="Arial"/>
                <a:ea typeface="Arial"/>
                <a:cs typeface="Arial"/>
              </a:rPr>
              <a:t>Intelligent Autoscaling of Microservices</a:t>
            </a:r>
          </a:p>
        </p:txBody>
      </p:sp>
      <p:sp>
        <p:nvSpPr>
          <p:cNvPr id="6" name="">
            <a:extLst xmlns:a="http://schemas.openxmlformats.org/drawingml/2006/main">
              <a:ext uri="{FF2B5EF4-FFF2-40B4-BE49-F238E27FC236}">
                <a16:creationId xmlns:a16="http://schemas.microsoft.com/office/drawing/2014/main" id="{5B80ADDD-3276-4D1B-939C-3988593CFB12}"/>
              </a:ext>
            </a:extLst>
          </p:cNvPr>
          <p:cNvSpPr>
            <a:spLocks xmlns:a="http://schemas.openxmlformats.org/drawingml/2006/main" noGrp="1"/>
          </p:cNvSpPr>
          <p:nvPr/>
        </p:nvSpPr>
        <p:spPr>
          <a:xfrm xmlns:a="http://schemas.openxmlformats.org/drawingml/2006/main">
            <a:off x="10991850" y="63531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C6D7D"/>
                </a:solidFill>
                <a:latin typeface="Arial"/>
                <a:ea typeface="Arial"/>
                <a:cs typeface="Arial"/>
              </a:defRPr>
            </a:defPPr>
          </a:lstStyle>
          <a:p xmlns:a="http://schemas.openxmlformats.org/drawingml/2006/main">
            <a:pPr algn="r">
              <a:defRPr sz="1050" b="1">
                <a:solidFill>
                  <a:srgbClr val="5C6D7D"/>
                </a:solidFill>
                <a:latin typeface="Arial"/>
                <a:ea typeface="Arial"/>
                <a:cs typeface="Arial"/>
              </a:defRPr>
            </a:pPr>
            <a:r>
              <a:rPr sz="1050" b="1">
                <a:solidFill>
                  <a:srgbClr val="5C6D7D"/>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900A9C60-30CF-4945-B782-11A7351A83AF}"/>
              </a:ext>
            </a:extLst>
          </p:cNvPr>
          <p:cNvSpPr>
            <a:spLocks xmlns:a="http://schemas.openxmlformats.org/drawingml/2006/main" noGrp="1"/>
          </p:cNvSpPr>
          <p:nvPr/>
        </p:nvSpPr>
        <p:spPr>
          <a:xfrm xmlns:a="http://schemas.openxmlformats.org/drawingml/2006/main">
            <a:off x="704850" y="18097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42E52"/>
                </a:solidFill>
                <a:latin typeface="Arial"/>
                <a:ea typeface="Arial"/>
                <a:cs typeface="Arial"/>
              </a:defRPr>
            </a:defPPr>
          </a:lstStyle>
          <a:p xmlns:a="http://schemas.openxmlformats.org/drawingml/2006/main">
            <a:pPr algn="l">
              <a:defRPr sz="2025" b="1">
                <a:solidFill>
                  <a:srgbClr val="142E52"/>
                </a:solidFill>
                <a:latin typeface="Arial"/>
                <a:ea typeface="Arial"/>
                <a:cs typeface="Arial"/>
              </a:defRPr>
            </a:pPr>
            <a:r>
              <a:rPr sz="2025" b="1">
                <a:solidFill>
                  <a:srgbClr val="142E52"/>
                </a:solidFill>
                <a:latin typeface="Arial"/>
                <a:ea typeface="Arial"/>
                <a:cs typeface="Arial"/>
              </a:rPr>
              <a:t>Current call rate</a:t>
            </a:r>
          </a:p>
        </p:txBody>
      </p:sp>
      <p:sp>
        <p:nvSpPr>
          <p:cNvPr id="8" name="">
            <a:extLst xmlns:a="http://schemas.openxmlformats.org/drawingml/2006/main">
              <a:ext uri="{FF2B5EF4-FFF2-40B4-BE49-F238E27FC236}">
                <a16:creationId xmlns:a16="http://schemas.microsoft.com/office/drawing/2014/main" id="{7B4AC3E3-7058-4B48-8294-5AE14072652C}"/>
              </a:ext>
            </a:extLst>
          </p:cNvPr>
          <p:cNvSpPr>
            <a:spLocks xmlns:a="http://schemas.openxmlformats.org/drawingml/2006/main" noGrp="1"/>
          </p:cNvSpPr>
          <p:nvPr/>
        </p:nvSpPr>
        <p:spPr>
          <a:xfrm xmlns:a="http://schemas.openxmlformats.org/drawingml/2006/main">
            <a:off x="704850" y="2466975"/>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42E52"/>
                </a:solidFill>
                <a:latin typeface="Arial"/>
                <a:ea typeface="Arial"/>
                <a:cs typeface="Arial"/>
              </a:defRPr>
            </a:defPPr>
          </a:lstStyle>
          <a:p xmlns:a="http://schemas.openxmlformats.org/drawingml/2006/main">
            <a:pPr algn="l">
              <a:defRPr sz="2025" b="1">
                <a:solidFill>
                  <a:srgbClr val="142E52"/>
                </a:solidFill>
                <a:latin typeface="Arial"/>
                <a:ea typeface="Arial"/>
                <a:cs typeface="Arial"/>
              </a:defRPr>
            </a:pPr>
            <a:r>
              <a:rPr sz="2025" b="1">
                <a:solidFill>
                  <a:srgbClr val="142E52"/>
                </a:solidFill>
                <a:latin typeface="Arial"/>
                <a:ea typeface="Arial"/>
                <a:cs typeface="Arial"/>
              </a:rPr>
              <a:t>Three recent lags</a:t>
            </a:r>
          </a:p>
        </p:txBody>
      </p:sp>
      <p:sp>
        <p:nvSpPr>
          <p:cNvPr id="9" name="">
            <a:extLst xmlns:a="http://schemas.openxmlformats.org/drawingml/2006/main">
              <a:ext uri="{FF2B5EF4-FFF2-40B4-BE49-F238E27FC236}">
                <a16:creationId xmlns:a16="http://schemas.microsoft.com/office/drawing/2014/main" id="{0A33ECCF-B6FE-49ED-9A3D-E593FA258D75}"/>
              </a:ext>
            </a:extLst>
          </p:cNvPr>
          <p:cNvSpPr>
            <a:spLocks xmlns:a="http://schemas.openxmlformats.org/drawingml/2006/main" noGrp="1"/>
          </p:cNvSpPr>
          <p:nvPr/>
        </p:nvSpPr>
        <p:spPr>
          <a:xfrm xmlns:a="http://schemas.openxmlformats.org/drawingml/2006/main">
            <a:off x="704850" y="312420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42E52"/>
                </a:solidFill>
                <a:latin typeface="Arial"/>
                <a:ea typeface="Arial"/>
                <a:cs typeface="Arial"/>
              </a:defRPr>
            </a:defPPr>
          </a:lstStyle>
          <a:p xmlns:a="http://schemas.openxmlformats.org/drawingml/2006/main">
            <a:pPr algn="l">
              <a:defRPr sz="2025" b="1">
                <a:solidFill>
                  <a:srgbClr val="142E52"/>
                </a:solidFill>
                <a:latin typeface="Arial"/>
                <a:ea typeface="Arial"/>
                <a:cs typeface="Arial"/>
              </a:defRPr>
            </a:pPr>
            <a:r>
              <a:rPr sz="2025" b="1">
                <a:solidFill>
                  <a:srgbClr val="142E52"/>
                </a:solidFill>
                <a:latin typeface="Arial"/>
                <a:ea typeface="Arial"/>
                <a:cs typeface="Arial"/>
              </a:rPr>
              <a:t>Trailing three-point average</a:t>
            </a:r>
          </a:p>
        </p:txBody>
      </p:sp>
      <p:sp>
        <p:nvSpPr>
          <p:cNvPr id="10" name="">
            <a:extLst xmlns:a="http://schemas.openxmlformats.org/drawingml/2006/main">
              <a:ext uri="{FF2B5EF4-FFF2-40B4-BE49-F238E27FC236}">
                <a16:creationId xmlns:a16="http://schemas.microsoft.com/office/drawing/2014/main" id="{276D5B68-9CE6-4BF2-88FC-167EC2002173}"/>
              </a:ext>
            </a:extLst>
          </p:cNvPr>
          <p:cNvSpPr>
            <a:spLocks xmlns:a="http://schemas.openxmlformats.org/drawingml/2006/main" noGrp="1"/>
          </p:cNvSpPr>
          <p:nvPr/>
        </p:nvSpPr>
        <p:spPr>
          <a:xfrm xmlns:a="http://schemas.openxmlformats.org/drawingml/2006/main">
            <a:off x="704850" y="3781425"/>
            <a:ext cx="552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142E52"/>
                </a:solidFill>
                <a:latin typeface="Arial"/>
                <a:ea typeface="Arial"/>
                <a:cs typeface="Arial"/>
              </a:defRPr>
            </a:defPPr>
          </a:lstStyle>
          <a:p xmlns:a="http://schemas.openxmlformats.org/drawingml/2006/main">
            <a:pPr algn="l">
              <a:defRPr sz="2025" b="1">
                <a:solidFill>
                  <a:srgbClr val="142E52"/>
                </a:solidFill>
                <a:latin typeface="Arial"/>
                <a:ea typeface="Arial"/>
                <a:cs typeface="Arial"/>
              </a:defRPr>
            </a:pPr>
            <a:r>
              <a:rPr sz="2025" b="1">
                <a:solidFill>
                  <a:srgbClr val="142E52"/>
                </a:solidFill>
                <a:latin typeface="Arial"/>
                <a:ea typeface="Arial"/>
                <a:cs typeface="Arial"/>
              </a:rPr>
              <a:t>Recent growth: current − two steps ago</a:t>
            </a:r>
          </a:p>
        </p:txBody>
      </p:sp>
      <p:sp>
        <p:nvSpPr>
          <p:cNvPr id="11" name="">
            <a:extLst xmlns:a="http://schemas.openxmlformats.org/drawingml/2006/main">
              <a:ext uri="{FF2B5EF4-FFF2-40B4-BE49-F238E27FC236}">
                <a16:creationId xmlns:a16="http://schemas.microsoft.com/office/drawing/2014/main" id="{BB0C0487-DB42-434E-BC15-176557B4269C}"/>
              </a:ext>
            </a:extLst>
          </p:cNvPr>
          <p:cNvSpPr>
            <a:spLocks xmlns:a="http://schemas.openxmlformats.org/drawingml/2006/main" noGrp="1"/>
          </p:cNvSpPr>
          <p:nvPr/>
        </p:nvSpPr>
        <p:spPr>
          <a:xfrm xmlns:a="http://schemas.openxmlformats.org/drawingml/2006/main">
            <a:off x="6286500" y="1762125"/>
            <a:ext cx="9525" cy="2857500"/>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C2C1224-C63A-41FD-839D-BBC524187D44}"/>
              </a:ext>
            </a:extLst>
          </p:cNvPr>
          <p:cNvSpPr>
            <a:spLocks xmlns:a="http://schemas.openxmlformats.org/drawingml/2006/main" noGrp="1"/>
          </p:cNvSpPr>
          <p:nvPr/>
        </p:nvSpPr>
        <p:spPr>
          <a:xfrm xmlns:a="http://schemas.openxmlformats.org/drawingml/2006/main">
            <a:off x="6705600" y="18764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087F9C"/>
                </a:solidFill>
                <a:latin typeface="Arial"/>
                <a:ea typeface="Arial"/>
                <a:cs typeface="Arial"/>
              </a:defRPr>
            </a:defPPr>
          </a:lstStyle>
          <a:p xmlns:a="http://schemas.openxmlformats.org/drawingml/2006/main">
            <a:pPr algn="l">
              <a:defRPr sz="1275" b="1">
                <a:solidFill>
                  <a:srgbClr val="087F9C"/>
                </a:solidFill>
                <a:latin typeface="Arial"/>
                <a:ea typeface="Arial"/>
                <a:cs typeface="Arial"/>
              </a:defRPr>
            </a:pPr>
            <a:r>
              <a:rPr sz="1275" b="1">
                <a:solidFill>
                  <a:srgbClr val="087F9C"/>
                </a:solidFill>
                <a:latin typeface="Arial"/>
                <a:ea typeface="Arial"/>
                <a:cs typeface="Arial"/>
              </a:rPr>
              <a:t>CHRONOLOGICAL SPLIT</a:t>
            </a:r>
          </a:p>
        </p:txBody>
      </p:sp>
      <p:sp>
        <p:nvSpPr>
          <p:cNvPr id="13" name="">
            <a:extLst xmlns:a="http://schemas.openxmlformats.org/drawingml/2006/main">
              <a:ext uri="{FF2B5EF4-FFF2-40B4-BE49-F238E27FC236}">
                <a16:creationId xmlns:a16="http://schemas.microsoft.com/office/drawing/2014/main" id="{66116F1A-F16F-49CA-8E79-05938E704AFF}"/>
              </a:ext>
            </a:extLst>
          </p:cNvPr>
          <p:cNvSpPr>
            <a:spLocks xmlns:a="http://schemas.openxmlformats.org/drawingml/2006/main" noGrp="1"/>
          </p:cNvSpPr>
          <p:nvPr/>
        </p:nvSpPr>
        <p:spPr>
          <a:xfrm xmlns:a="http://schemas.openxmlformats.org/drawingml/2006/main">
            <a:off x="6705600" y="2457450"/>
            <a:ext cx="2543175" cy="714375"/>
          </a:xfrm>
          <a:prstGeom xmlns:a="http://schemas.openxmlformats.org/drawingml/2006/main" prst="rect">
            <a:avLst/>
          </a:prstGeom>
          <a:solidFill xmlns:a="http://schemas.openxmlformats.org/drawingml/2006/main">
            <a:srgbClr val="142E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347D169-571D-4C67-8CC5-1EDE7C9C4AAF}"/>
              </a:ext>
            </a:extLst>
          </p:cNvPr>
          <p:cNvSpPr>
            <a:spLocks xmlns:a="http://schemas.openxmlformats.org/drawingml/2006/main" noGrp="1"/>
          </p:cNvSpPr>
          <p:nvPr/>
        </p:nvSpPr>
        <p:spPr>
          <a:xfrm xmlns:a="http://schemas.openxmlformats.org/drawingml/2006/main">
            <a:off x="6810375" y="2524125"/>
            <a:ext cx="2333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950" b="1">
                <a:solidFill>
                  <a:srgbClr val="FFFFFF"/>
                </a:solidFill>
                <a:latin typeface="Arial"/>
                <a:ea typeface="Arial"/>
                <a:cs typeface="Arial"/>
              </a:defRPr>
            </a:defPPr>
          </a:lstStyle>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75 train</a:t>
            </a:r>
          </a:p>
        </p:txBody>
      </p:sp>
      <p:sp>
        <p:nvSpPr>
          <p:cNvPr id="15" name="">
            <a:extLst xmlns:a="http://schemas.openxmlformats.org/drawingml/2006/main">
              <a:ext uri="{FF2B5EF4-FFF2-40B4-BE49-F238E27FC236}">
                <a16:creationId xmlns:a16="http://schemas.microsoft.com/office/drawing/2014/main" id="{5A01172B-B053-4A1C-BF2F-27D807421056}"/>
              </a:ext>
            </a:extLst>
          </p:cNvPr>
          <p:cNvSpPr>
            <a:spLocks xmlns:a="http://schemas.openxmlformats.org/drawingml/2006/main" noGrp="1"/>
          </p:cNvSpPr>
          <p:nvPr/>
        </p:nvSpPr>
        <p:spPr>
          <a:xfrm xmlns:a="http://schemas.openxmlformats.org/drawingml/2006/main">
            <a:off x="9248775" y="2457450"/>
            <a:ext cx="857250" cy="714375"/>
          </a:xfrm>
          <a:prstGeom xmlns:a="http://schemas.openxmlformats.org/drawingml/2006/main" prst="rect">
            <a:avLst/>
          </a:prstGeom>
          <a:solidFill xmlns:a="http://schemas.openxmlformats.org/drawingml/2006/main">
            <a:srgbClr val="009AA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04BB07D-0708-4A79-918D-12CD9F0CCB31}"/>
              </a:ext>
            </a:extLst>
          </p:cNvPr>
          <p:cNvSpPr>
            <a:spLocks xmlns:a="http://schemas.openxmlformats.org/drawingml/2006/main" noGrp="1"/>
          </p:cNvSpPr>
          <p:nvPr/>
        </p:nvSpPr>
        <p:spPr>
          <a:xfrm xmlns:a="http://schemas.openxmlformats.org/drawingml/2006/main">
            <a:off x="9286875" y="2524125"/>
            <a:ext cx="809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25 val</a:t>
            </a:r>
          </a:p>
        </p:txBody>
      </p:sp>
      <p:sp>
        <p:nvSpPr>
          <p:cNvPr id="17" name="">
            <a:extLst xmlns:a="http://schemas.openxmlformats.org/drawingml/2006/main">
              <a:ext uri="{FF2B5EF4-FFF2-40B4-BE49-F238E27FC236}">
                <a16:creationId xmlns:a16="http://schemas.microsoft.com/office/drawing/2014/main" id="{FBB92D70-49C1-41BF-B478-879713E8FB0B}"/>
              </a:ext>
            </a:extLst>
          </p:cNvPr>
          <p:cNvSpPr>
            <a:spLocks xmlns:a="http://schemas.openxmlformats.org/drawingml/2006/main" noGrp="1"/>
          </p:cNvSpPr>
          <p:nvPr/>
        </p:nvSpPr>
        <p:spPr>
          <a:xfrm xmlns:a="http://schemas.openxmlformats.org/drawingml/2006/main">
            <a:off x="10106025" y="2457450"/>
            <a:ext cx="1257300" cy="714375"/>
          </a:xfrm>
          <a:prstGeom xmlns:a="http://schemas.openxmlformats.org/drawingml/2006/main" prst="rect">
            <a:avLst/>
          </a:prstGeom>
          <a:solidFill xmlns:a="http://schemas.openxmlformats.org/drawingml/2006/main">
            <a:srgbClr val="D7862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0441A13-EF78-4549-BCCE-A55D32DA57CE}"/>
              </a:ext>
            </a:extLst>
          </p:cNvPr>
          <p:cNvSpPr>
            <a:spLocks xmlns:a="http://schemas.openxmlformats.org/drawingml/2006/main" noGrp="1"/>
          </p:cNvSpPr>
          <p:nvPr/>
        </p:nvSpPr>
        <p:spPr>
          <a:xfrm xmlns:a="http://schemas.openxmlformats.org/drawingml/2006/main">
            <a:off x="10144125" y="2524125"/>
            <a:ext cx="11715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25 test</a:t>
            </a:r>
          </a:p>
        </p:txBody>
      </p:sp>
      <p:sp>
        <p:nvSpPr>
          <p:cNvPr id="19" name="">
            <a:extLst xmlns:a="http://schemas.openxmlformats.org/drawingml/2006/main">
              <a:ext uri="{FF2B5EF4-FFF2-40B4-BE49-F238E27FC236}">
                <a16:creationId xmlns:a16="http://schemas.microsoft.com/office/drawing/2014/main" id="{DFF635A9-016F-4A01-A468-2BF2389942F2}"/>
              </a:ext>
            </a:extLst>
          </p:cNvPr>
          <p:cNvSpPr>
            <a:spLocks xmlns:a="http://schemas.openxmlformats.org/drawingml/2006/main" noGrp="1"/>
          </p:cNvSpPr>
          <p:nvPr/>
        </p:nvSpPr>
        <p:spPr>
          <a:xfrm xmlns:a="http://schemas.openxmlformats.org/drawingml/2006/main">
            <a:off x="6705600" y="3609975"/>
            <a:ext cx="45243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0">
                <a:solidFill>
                  <a:srgbClr val="182A42"/>
                </a:solidFill>
                <a:latin typeface="Arial"/>
                <a:ea typeface="Arial"/>
                <a:cs typeface="Arial"/>
              </a:defRPr>
            </a:defPPr>
          </a:lstStyle>
          <a:p xmlns:a="http://schemas.openxmlformats.org/drawingml/2006/main">
            <a:pPr algn="l">
              <a:defRPr sz="1725" b="0">
                <a:solidFill>
                  <a:srgbClr val="182A42"/>
                </a:solidFill>
                <a:latin typeface="Arial"/>
                <a:ea typeface="Arial"/>
                <a:cs typeface="Arial"/>
              </a:defRPr>
            </a:pPr>
            <a:r>
              <a:rPr sz="1725" b="0">
                <a:solidFill>
                  <a:srgbClr val="182A42"/>
                </a:solidFill>
                <a:latin typeface="Arial"/>
                <a:ea typeface="Arial"/>
                <a:cs typeface="Arial"/>
              </a:rPr>
              <a:t>Validation chooses tree complexity.</a:t>
            </a:r>
          </a:p>
          <a:p xmlns:a="http://schemas.openxmlformats.org/drawingml/2006/main">
            <a:pPr algn="l">
              <a:defRPr sz="1725" b="0">
                <a:solidFill>
                  <a:srgbClr val="182A42"/>
                </a:solidFill>
                <a:latin typeface="Arial"/>
                <a:ea typeface="Arial"/>
                <a:cs typeface="Arial"/>
              </a:defRPr>
            </a:pPr>
            <a:r>
              <a:rPr sz="1725" b="0">
                <a:solidFill>
                  <a:srgbClr val="182A42"/>
                </a:solidFill>
                <a:latin typeface="Arial"/>
                <a:ea typeface="Arial"/>
                <a:cs typeface="Arial"/>
              </a:rPr>
              <a:t>Test remains untouched until final evaluation.</a:t>
            </a:r>
          </a:p>
        </p:txBody>
      </p:sp>
      <p:sp>
        <p:nvSpPr>
          <p:cNvPr id="20" name="">
            <a:extLst xmlns:a="http://schemas.openxmlformats.org/drawingml/2006/main">
              <a:ext uri="{FF2B5EF4-FFF2-40B4-BE49-F238E27FC236}">
                <a16:creationId xmlns:a16="http://schemas.microsoft.com/office/drawing/2014/main" id="{7132FE96-8F18-40AC-8EB8-5240EBF19848}"/>
              </a:ext>
            </a:extLst>
          </p:cNvPr>
          <p:cNvSpPr>
            <a:spLocks xmlns:a="http://schemas.openxmlformats.org/drawingml/2006/main" noGrp="1"/>
          </p:cNvSpPr>
          <p:nvPr/>
        </p:nvSpPr>
        <p:spPr>
          <a:xfrm xmlns:a="http://schemas.openxmlformats.org/drawingml/2006/main">
            <a:off x="704850" y="52197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C6D7D"/>
                </a:solidFill>
                <a:latin typeface="Arial"/>
                <a:ea typeface="Arial"/>
                <a:cs typeface="Arial"/>
              </a:defRPr>
            </a:defPPr>
          </a:lstStyle>
          <a:p xmlns:a="http://schemas.openxmlformats.org/drawingml/2006/main">
            <a:pPr algn="l">
              <a:defRPr sz="1575" b="0">
                <a:solidFill>
                  <a:srgbClr val="5C6D7D"/>
                </a:solidFill>
                <a:latin typeface="Arial"/>
                <a:ea typeface="Arial"/>
                <a:cs typeface="Arial"/>
              </a:defRPr>
            </a:pPr>
            <a:r>
              <a:rPr sz="1575" b="0">
                <a:solidFill>
                  <a:srgbClr val="5C6D7D"/>
                </a:solidFill>
                <a:latin typeface="Arial"/>
                <a:ea typeface="Arial"/>
                <a:cs typeface="Arial"/>
              </a:rPr>
              <a:t>No future call rate, replica count, service time, or event label enters the model.</a:t>
            </a:r>
          </a:p>
        </p:txBody>
      </p:sp>
    </p:spTree>
    <p:extLst>
      <p:ext uri="{BB962C8B-B14F-4D97-AF65-F5344CB8AC3E}">
        <p14:creationId xmlns:p14="http://schemas.microsoft.com/office/powerpoint/2010/main" val="14904158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2DD8AD-1A33-4343-89FD-2DF42E2AED85}"/>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2E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D9480A-B916-4317-925F-1C4489AFFE55}"/>
              </a:ext>
            </a:extLst>
          </p:cNvPr>
          <p:cNvSpPr>
            <a:spLocks xmlns:a="http://schemas.openxmlformats.org/drawingml/2006/main" noGrp="1"/>
          </p:cNvSpPr>
          <p:nvPr/>
        </p:nvSpPr>
        <p:spPr>
          <a:xfrm xmlns:a="http://schemas.openxmlformats.org/drawingml/2006/main">
            <a:off x="666750" y="3810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625" b="1">
                <a:solidFill>
                  <a:srgbClr val="142E52"/>
                </a:solidFill>
                <a:latin typeface="Arial"/>
                <a:ea typeface="Arial"/>
                <a:cs typeface="Arial"/>
              </a:defRPr>
            </a:defPPr>
          </a:lstStyle>
          <a:p xmlns:a="http://schemas.openxmlformats.org/drawingml/2006/main">
            <a:pPr algn="l">
              <a:defRPr sz="2625" b="1">
                <a:solidFill>
                  <a:srgbClr val="142E52"/>
                </a:solidFill>
                <a:latin typeface="Arial"/>
                <a:ea typeface="Arial"/>
                <a:cs typeface="Arial"/>
              </a:defRPr>
            </a:pPr>
            <a:r>
              <a:rPr sz="2625" b="1">
                <a:solidFill>
                  <a:srgbClr val="142E52"/>
                </a:solidFill>
                <a:latin typeface="Arial"/>
                <a:ea typeface="Arial"/>
                <a:cs typeface="Arial"/>
              </a:rPr>
              <a:t>Held-out traffic: actual vs two forecasts</a:t>
            </a:r>
          </a:p>
        </p:txBody>
      </p:sp>
      <p:sp>
        <p:nvSpPr>
          <p:cNvPr id="3" name="">
            <a:extLst xmlns:a="http://schemas.openxmlformats.org/drawingml/2006/main">
              <a:ext uri="{FF2B5EF4-FFF2-40B4-BE49-F238E27FC236}">
                <a16:creationId xmlns:a16="http://schemas.microsoft.com/office/drawing/2014/main" id="{DFB18E76-07C5-4474-BA8E-A0B5BD6D4614}"/>
              </a:ext>
            </a:extLst>
          </p:cNvPr>
          <p:cNvSpPr>
            <a:spLocks xmlns:a="http://schemas.openxmlformats.org/drawingml/2006/main" noGrp="1"/>
          </p:cNvSpPr>
          <p:nvPr/>
        </p:nvSpPr>
        <p:spPr>
          <a:xfrm xmlns:a="http://schemas.openxmlformats.org/drawingml/2006/main">
            <a:off x="685800" y="10001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C6D7D"/>
                </a:solidFill>
                <a:latin typeface="Arial"/>
                <a:ea typeface="Arial"/>
                <a:cs typeface="Arial"/>
              </a:defRPr>
            </a:defPPr>
          </a:lstStyle>
          <a:p xmlns:a="http://schemas.openxmlformats.org/drawingml/2006/main">
            <a:pPr algn="l">
              <a:defRPr sz="1350" b="0">
                <a:solidFill>
                  <a:srgbClr val="5C6D7D"/>
                </a:solidFill>
                <a:latin typeface="Arial"/>
                <a:ea typeface="Arial"/>
                <a:cs typeface="Arial"/>
              </a:defRPr>
            </a:pPr>
            <a:r>
              <a:rPr sz="1350" b="0">
                <a:solidFill>
                  <a:srgbClr val="5C6D7D"/>
                </a:solidFill>
                <a:latin typeface="Arial"/>
                <a:ea typeface="Arial"/>
                <a:cs typeface="Arial"/>
              </a:rPr>
              <a:t>Twenty-five test origins; lower errors are better</a:t>
            </a:r>
          </a:p>
        </p:txBody>
      </p:sp>
      <p:sp>
        <p:nvSpPr>
          <p:cNvPr id="4" name="">
            <a:extLst xmlns:a="http://schemas.openxmlformats.org/drawingml/2006/main">
              <a:ext uri="{FF2B5EF4-FFF2-40B4-BE49-F238E27FC236}">
                <a16:creationId xmlns:a16="http://schemas.microsoft.com/office/drawing/2014/main" id="{4A71532E-4CBA-40DE-97F9-3815B3CE332C}"/>
              </a:ext>
            </a:extLst>
          </p:cNvPr>
          <p:cNvSpPr>
            <a:spLocks xmlns:a="http://schemas.openxmlformats.org/drawingml/2006/main" noGrp="1"/>
          </p:cNvSpPr>
          <p:nvPr/>
        </p:nvSpPr>
        <p:spPr>
          <a:xfrm xmlns:a="http://schemas.openxmlformats.org/drawingml/2006/main">
            <a:off x="666750" y="6286500"/>
            <a:ext cx="10858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CE1DE8B-3E98-48A6-A34B-4A575418BDDC}"/>
              </a:ext>
            </a:extLst>
          </p:cNvPr>
          <p:cNvSpPr>
            <a:spLocks xmlns:a="http://schemas.openxmlformats.org/drawingml/2006/main" noGrp="1"/>
          </p:cNvSpPr>
          <p:nvPr/>
        </p:nvSpPr>
        <p:spPr>
          <a:xfrm xmlns:a="http://schemas.openxmlformats.org/drawingml/2006/main">
            <a:off x="666750" y="63722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C6D7D"/>
                </a:solidFill>
                <a:latin typeface="Arial"/>
                <a:ea typeface="Arial"/>
                <a:cs typeface="Arial"/>
              </a:defRPr>
            </a:defPPr>
          </a:lstStyle>
          <a:p xmlns:a="http://schemas.openxmlformats.org/drawingml/2006/main">
            <a:pPr algn="l">
              <a:defRPr sz="975" b="0">
                <a:solidFill>
                  <a:srgbClr val="5C6D7D"/>
                </a:solidFill>
                <a:latin typeface="Arial"/>
                <a:ea typeface="Arial"/>
                <a:cs typeface="Arial"/>
              </a:defRPr>
            </a:pPr>
            <a:r>
              <a:rPr sz="975" b="0">
                <a:solidFill>
                  <a:srgbClr val="5C6D7D"/>
                </a:solidFill>
                <a:latin typeface="Arial"/>
                <a:ea typeface="Arial"/>
                <a:cs typeface="Arial"/>
              </a:rPr>
              <a:t>Intelligent Autoscaling of Microservices</a:t>
            </a:r>
          </a:p>
        </p:txBody>
      </p:sp>
      <p:sp>
        <p:nvSpPr>
          <p:cNvPr id="6" name="">
            <a:extLst xmlns:a="http://schemas.openxmlformats.org/drawingml/2006/main">
              <a:ext uri="{FF2B5EF4-FFF2-40B4-BE49-F238E27FC236}">
                <a16:creationId xmlns:a16="http://schemas.microsoft.com/office/drawing/2014/main" id="{40AE30CB-24A3-455A-92FC-EC4665C3C711}"/>
              </a:ext>
            </a:extLst>
          </p:cNvPr>
          <p:cNvSpPr>
            <a:spLocks xmlns:a="http://schemas.openxmlformats.org/drawingml/2006/main" noGrp="1"/>
          </p:cNvSpPr>
          <p:nvPr/>
        </p:nvSpPr>
        <p:spPr>
          <a:xfrm xmlns:a="http://schemas.openxmlformats.org/drawingml/2006/main">
            <a:off x="10991850" y="63531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C6D7D"/>
                </a:solidFill>
                <a:latin typeface="Arial"/>
                <a:ea typeface="Arial"/>
                <a:cs typeface="Arial"/>
              </a:defRPr>
            </a:defPPr>
          </a:lstStyle>
          <a:p xmlns:a="http://schemas.openxmlformats.org/drawingml/2006/main">
            <a:pPr algn="r">
              <a:defRPr sz="1050" b="1">
                <a:solidFill>
                  <a:srgbClr val="5C6D7D"/>
                </a:solidFill>
                <a:latin typeface="Arial"/>
                <a:ea typeface="Arial"/>
                <a:cs typeface="Arial"/>
              </a:defRPr>
            </a:pPr>
            <a:r>
              <a:rPr sz="1050" b="1">
                <a:solidFill>
                  <a:srgbClr val="5C6D7D"/>
                </a:solidFill>
                <a:latin typeface="Arial"/>
                <a:ea typeface="Arial"/>
                <a:cs typeface="Arial"/>
              </a:rPr>
              <a:t>05</a:t>
            </a:r>
          </a:p>
        </p:txBody>
      </p:sp>
      <p:graphicFrame>
        <p:nvGraphicFramePr>
          <p:cNvPr id="7" name="Chart">
            <a:extLst xmlns:a="http://schemas.openxmlformats.org/drawingml/2006/main">
              <a:ext uri="{FF2B5EF4-FFF2-40B4-BE49-F238E27FC236}">
                <a16:creationId xmlns:a16="http://schemas.microsoft.com/office/drawing/2014/main" id="{6DCD2432-2E48-435B-846F-AF93D6E1723D}"/>
              </a:ext>
            </a:extLst>
          </p:cNvPr>
          <p:cNvGraphicFramePr/>
          <p:nvPr/>
        </p:nvGraphicFramePr>
        <p:xfrm>
          <a:off xmlns:a="http://schemas.openxmlformats.org/drawingml/2006/main" x="666750" y="1685925"/>
          <a:ext xmlns:a="http://schemas.openxmlformats.org/drawingml/2006/main" cx="10839450" cy="4191000"/>
        </p:xfrm>
        <a:graphic xmlns:a="http://schemas.openxmlformats.org/drawingml/2006/main">
          <a:graphicData uri="http://schemas.openxmlformats.org/drawingml/2006/chart">
            <c:chart xmlns:r="http://schemas.openxmlformats.org/officeDocument/2006/relationships" xmlns:c="http://schemas.openxmlformats.org/drawingml/2006/chart" r:id="R3a5e666f21074322"/>
          </a:graphicData>
        </a:graphic>
      </p:graphicFrame>
    </p:spTree>
    <p:extLst>
      <p:ext uri="{BB962C8B-B14F-4D97-AF65-F5344CB8AC3E}">
        <p14:creationId xmlns:p14="http://schemas.microsoft.com/office/powerpoint/2010/main" val="268160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1577C8F-AC98-478D-A401-4FBA90760E05}"/>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2E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A38CBF-A32B-43CD-ABE9-1334FE64BF2C}"/>
              </a:ext>
            </a:extLst>
          </p:cNvPr>
          <p:cNvSpPr>
            <a:spLocks xmlns:a="http://schemas.openxmlformats.org/drawingml/2006/main" noGrp="1"/>
          </p:cNvSpPr>
          <p:nvPr/>
        </p:nvSpPr>
        <p:spPr>
          <a:xfrm xmlns:a="http://schemas.openxmlformats.org/drawingml/2006/main">
            <a:off x="666750" y="3810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625" b="1">
                <a:solidFill>
                  <a:srgbClr val="142E52"/>
                </a:solidFill>
                <a:latin typeface="Arial"/>
                <a:ea typeface="Arial"/>
                <a:cs typeface="Arial"/>
              </a:defRPr>
            </a:defPPr>
          </a:lstStyle>
          <a:p xmlns:a="http://schemas.openxmlformats.org/drawingml/2006/main">
            <a:pPr algn="l">
              <a:defRPr sz="2625" b="1">
                <a:solidFill>
                  <a:srgbClr val="142E52"/>
                </a:solidFill>
                <a:latin typeface="Arial"/>
                <a:ea typeface="Arial"/>
                <a:cs typeface="Arial"/>
              </a:defRPr>
            </a:pPr>
            <a:r>
              <a:rPr sz="2625" b="1">
                <a:solidFill>
                  <a:srgbClr val="142E52"/>
                </a:solidFill>
                <a:latin typeface="Arial"/>
                <a:ea typeface="Arial"/>
                <a:cs typeface="Arial"/>
              </a:rPr>
              <a:t>Persistence beats this tree on held-out error</a:t>
            </a:r>
          </a:p>
        </p:txBody>
      </p:sp>
      <p:sp>
        <p:nvSpPr>
          <p:cNvPr id="3" name="">
            <a:extLst xmlns:a="http://schemas.openxmlformats.org/drawingml/2006/main">
              <a:ext uri="{FF2B5EF4-FFF2-40B4-BE49-F238E27FC236}">
                <a16:creationId xmlns:a16="http://schemas.microsoft.com/office/drawing/2014/main" id="{CC07B5E3-C58D-4211-BDDB-EDCEBC9AD6F3}"/>
              </a:ext>
            </a:extLst>
          </p:cNvPr>
          <p:cNvSpPr>
            <a:spLocks xmlns:a="http://schemas.openxmlformats.org/drawingml/2006/main" noGrp="1"/>
          </p:cNvSpPr>
          <p:nvPr/>
        </p:nvSpPr>
        <p:spPr>
          <a:xfrm xmlns:a="http://schemas.openxmlformats.org/drawingml/2006/main">
            <a:off x="685800" y="10001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C6D7D"/>
                </a:solidFill>
                <a:latin typeface="Arial"/>
                <a:ea typeface="Arial"/>
                <a:cs typeface="Arial"/>
              </a:defRPr>
            </a:defPPr>
          </a:lstStyle>
          <a:p xmlns:a="http://schemas.openxmlformats.org/drawingml/2006/main">
            <a:pPr algn="l">
              <a:defRPr sz="1350" b="0">
                <a:solidFill>
                  <a:srgbClr val="5C6D7D"/>
                </a:solidFill>
                <a:latin typeface="Arial"/>
                <a:ea typeface="Arial"/>
                <a:cs typeface="Arial"/>
              </a:defRPr>
            </a:pPr>
            <a:r>
              <a:rPr sz="1350" b="0">
                <a:solidFill>
                  <a:srgbClr val="5C6D7D"/>
                </a:solidFill>
                <a:latin typeface="Arial"/>
                <a:ea typeface="Arial"/>
                <a:cs typeface="Arial"/>
              </a:rPr>
              <a:t>Actual test metrics in source call-rate units</a:t>
            </a:r>
          </a:p>
        </p:txBody>
      </p:sp>
      <p:sp>
        <p:nvSpPr>
          <p:cNvPr id="4" name="">
            <a:extLst xmlns:a="http://schemas.openxmlformats.org/drawingml/2006/main">
              <a:ext uri="{FF2B5EF4-FFF2-40B4-BE49-F238E27FC236}">
                <a16:creationId xmlns:a16="http://schemas.microsoft.com/office/drawing/2014/main" id="{1A3E4438-DD98-4AD0-AED4-260F562766F3}"/>
              </a:ext>
            </a:extLst>
          </p:cNvPr>
          <p:cNvSpPr>
            <a:spLocks xmlns:a="http://schemas.openxmlformats.org/drawingml/2006/main" noGrp="1"/>
          </p:cNvSpPr>
          <p:nvPr/>
        </p:nvSpPr>
        <p:spPr>
          <a:xfrm xmlns:a="http://schemas.openxmlformats.org/drawingml/2006/main">
            <a:off x="666750" y="6286500"/>
            <a:ext cx="10858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40E023-DC81-4F8A-B787-D2BFA79B1487}"/>
              </a:ext>
            </a:extLst>
          </p:cNvPr>
          <p:cNvSpPr>
            <a:spLocks xmlns:a="http://schemas.openxmlformats.org/drawingml/2006/main" noGrp="1"/>
          </p:cNvSpPr>
          <p:nvPr/>
        </p:nvSpPr>
        <p:spPr>
          <a:xfrm xmlns:a="http://schemas.openxmlformats.org/drawingml/2006/main">
            <a:off x="666750" y="63722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C6D7D"/>
                </a:solidFill>
                <a:latin typeface="Arial"/>
                <a:ea typeface="Arial"/>
                <a:cs typeface="Arial"/>
              </a:defRPr>
            </a:defPPr>
          </a:lstStyle>
          <a:p xmlns:a="http://schemas.openxmlformats.org/drawingml/2006/main">
            <a:pPr algn="l">
              <a:defRPr sz="975" b="0">
                <a:solidFill>
                  <a:srgbClr val="5C6D7D"/>
                </a:solidFill>
                <a:latin typeface="Arial"/>
                <a:ea typeface="Arial"/>
                <a:cs typeface="Arial"/>
              </a:defRPr>
            </a:pPr>
            <a:r>
              <a:rPr sz="975" b="0">
                <a:solidFill>
                  <a:srgbClr val="5C6D7D"/>
                </a:solidFill>
                <a:latin typeface="Arial"/>
                <a:ea typeface="Arial"/>
                <a:cs typeface="Arial"/>
              </a:rPr>
              <a:t>Intelligent Autoscaling of Microservices</a:t>
            </a:r>
          </a:p>
        </p:txBody>
      </p:sp>
      <p:sp>
        <p:nvSpPr>
          <p:cNvPr id="6" name="">
            <a:extLst xmlns:a="http://schemas.openxmlformats.org/drawingml/2006/main">
              <a:ext uri="{FF2B5EF4-FFF2-40B4-BE49-F238E27FC236}">
                <a16:creationId xmlns:a16="http://schemas.microsoft.com/office/drawing/2014/main" id="{0A4C794A-E057-4984-AD4F-867FCD7722E8}"/>
              </a:ext>
            </a:extLst>
          </p:cNvPr>
          <p:cNvSpPr>
            <a:spLocks xmlns:a="http://schemas.openxmlformats.org/drawingml/2006/main" noGrp="1"/>
          </p:cNvSpPr>
          <p:nvPr/>
        </p:nvSpPr>
        <p:spPr>
          <a:xfrm xmlns:a="http://schemas.openxmlformats.org/drawingml/2006/main">
            <a:off x="10991850" y="63531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C6D7D"/>
                </a:solidFill>
                <a:latin typeface="Arial"/>
                <a:ea typeface="Arial"/>
                <a:cs typeface="Arial"/>
              </a:defRPr>
            </a:defPPr>
          </a:lstStyle>
          <a:p xmlns:a="http://schemas.openxmlformats.org/drawingml/2006/main">
            <a:pPr algn="r">
              <a:defRPr sz="1050" b="1">
                <a:solidFill>
                  <a:srgbClr val="5C6D7D"/>
                </a:solidFill>
                <a:latin typeface="Arial"/>
                <a:ea typeface="Arial"/>
                <a:cs typeface="Arial"/>
              </a:defRPr>
            </a:pPr>
            <a:r>
              <a:rPr sz="1050" b="1">
                <a:solidFill>
                  <a:srgbClr val="5C6D7D"/>
                </a:solidFill>
                <a:latin typeface="Arial"/>
                <a:ea typeface="Arial"/>
                <a:cs typeface="Arial"/>
              </a:rPr>
              <a:t>06</a:t>
            </a:r>
          </a:p>
        </p:txBody>
      </p:sp>
      <p:graphicFrame>
        <p:nvGraphicFramePr>
          <p:cNvPr id="7" name="Chart">
            <a:extLst xmlns:a="http://schemas.openxmlformats.org/drawingml/2006/main">
              <a:ext uri="{FF2B5EF4-FFF2-40B4-BE49-F238E27FC236}">
                <a16:creationId xmlns:a16="http://schemas.microsoft.com/office/drawing/2014/main" id="{0221AB32-0910-44A8-BF25-DE1A42389BBA}"/>
              </a:ext>
            </a:extLst>
          </p:cNvPr>
          <p:cNvGraphicFramePr/>
          <p:nvPr/>
        </p:nvGraphicFramePr>
        <p:xfrm>
          <a:off xmlns:a="http://schemas.openxmlformats.org/drawingml/2006/main" x="666750" y="1809750"/>
          <a:ext xmlns:a="http://schemas.openxmlformats.org/drawingml/2006/main" cx="7524750" cy="3857625"/>
        </p:xfrm>
        <a:graphic xmlns:a="http://schemas.openxmlformats.org/drawingml/2006/main">
          <a:graphicData uri="http://schemas.openxmlformats.org/drawingml/2006/chart">
            <c:chart xmlns:r="http://schemas.openxmlformats.org/officeDocument/2006/relationships" xmlns:c="http://schemas.openxmlformats.org/drawingml/2006/chart" r:id="R1c2a4e23ce174f91"/>
          </a:graphicData>
        </a:graphic>
      </p:graphicFrame>
      <p:sp>
        <p:nvSpPr>
          <p:cNvPr id="8" name="">
            <a:extLst xmlns:a="http://schemas.openxmlformats.org/drawingml/2006/main">
              <a:ext uri="{FF2B5EF4-FFF2-40B4-BE49-F238E27FC236}">
                <a16:creationId xmlns:a16="http://schemas.microsoft.com/office/drawing/2014/main" id="{B76C3EC0-02BD-48E4-AEFD-72274A5035A4}"/>
              </a:ext>
            </a:extLst>
          </p:cNvPr>
          <p:cNvSpPr>
            <a:spLocks xmlns:a="http://schemas.openxmlformats.org/drawingml/2006/main" noGrp="1"/>
          </p:cNvSpPr>
          <p:nvPr/>
        </p:nvSpPr>
        <p:spPr>
          <a:xfrm xmlns:a="http://schemas.openxmlformats.org/drawingml/2006/main">
            <a:off x="8696325" y="2095500"/>
            <a:ext cx="2428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087F9C"/>
                </a:solidFill>
                <a:latin typeface="Arial"/>
                <a:ea typeface="Arial"/>
                <a:cs typeface="Arial"/>
              </a:defRPr>
            </a:defPPr>
          </a:lstStyle>
          <a:p xmlns:a="http://schemas.openxmlformats.org/drawingml/2006/main">
            <a:pPr algn="l">
              <a:defRPr sz="1275" b="1">
                <a:solidFill>
                  <a:srgbClr val="087F9C"/>
                </a:solidFill>
                <a:latin typeface="Arial"/>
                <a:ea typeface="Arial"/>
                <a:cs typeface="Arial"/>
              </a:defRPr>
            </a:pPr>
            <a:r>
              <a:rPr sz="1275" b="1">
                <a:solidFill>
                  <a:srgbClr val="087F9C"/>
                </a:solidFill>
                <a:latin typeface="Arial"/>
                <a:ea typeface="Arial"/>
                <a:cs typeface="Arial"/>
              </a:rPr>
              <a:t>TEST RESULT</a:t>
            </a:r>
          </a:p>
        </p:txBody>
      </p:sp>
      <p:sp>
        <p:nvSpPr>
          <p:cNvPr id="9" name="">
            <a:extLst xmlns:a="http://schemas.openxmlformats.org/drawingml/2006/main">
              <a:ext uri="{FF2B5EF4-FFF2-40B4-BE49-F238E27FC236}">
                <a16:creationId xmlns:a16="http://schemas.microsoft.com/office/drawing/2014/main" id="{4A2B9275-A1AA-459E-896B-0224FF6F1B6C}"/>
              </a:ext>
            </a:extLst>
          </p:cNvPr>
          <p:cNvSpPr>
            <a:spLocks xmlns:a="http://schemas.openxmlformats.org/drawingml/2006/main" noGrp="1"/>
          </p:cNvSpPr>
          <p:nvPr/>
        </p:nvSpPr>
        <p:spPr>
          <a:xfrm xmlns:a="http://schemas.openxmlformats.org/drawingml/2006/main">
            <a:off x="8696325" y="2552700"/>
            <a:ext cx="2333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82A42"/>
                </a:solidFill>
                <a:latin typeface="Arial"/>
                <a:ea typeface="Arial"/>
                <a:cs typeface="Arial"/>
              </a:defRPr>
            </a:defPPr>
          </a:lstStyle>
          <a:p xmlns:a="http://schemas.openxmlformats.org/drawingml/2006/main">
            <a:pPr algn="l">
              <a:defRPr sz="1725" b="1">
                <a:solidFill>
                  <a:srgbClr val="182A42"/>
                </a:solidFill>
                <a:latin typeface="Arial"/>
                <a:ea typeface="Arial"/>
                <a:cs typeface="Arial"/>
              </a:defRPr>
            </a:pPr>
            <a:r>
              <a:rPr sz="1725" b="1">
                <a:solidFill>
                  <a:srgbClr val="182A42"/>
                </a:solidFill>
                <a:latin typeface="Arial"/>
                <a:ea typeface="Arial"/>
                <a:cs typeface="Arial"/>
              </a:rPr>
              <a:t>rpart</a:t>
            </a:r>
          </a:p>
        </p:txBody>
      </p:sp>
      <p:sp>
        <p:nvSpPr>
          <p:cNvPr id="10" name="">
            <a:extLst xmlns:a="http://schemas.openxmlformats.org/drawingml/2006/main">
              <a:ext uri="{FF2B5EF4-FFF2-40B4-BE49-F238E27FC236}">
                <a16:creationId xmlns:a16="http://schemas.microsoft.com/office/drawing/2014/main" id="{75FE7DA6-D582-450C-A65B-E073C49E1AF9}"/>
              </a:ext>
            </a:extLst>
          </p:cNvPr>
          <p:cNvSpPr>
            <a:spLocks xmlns:a="http://schemas.openxmlformats.org/drawingml/2006/main" noGrp="1"/>
          </p:cNvSpPr>
          <p:nvPr/>
        </p:nvSpPr>
        <p:spPr>
          <a:xfrm xmlns:a="http://schemas.openxmlformats.org/drawingml/2006/main">
            <a:off x="8696325" y="2943225"/>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82A42"/>
                </a:solidFill>
                <a:latin typeface="Arial"/>
                <a:ea typeface="Arial"/>
                <a:cs typeface="Arial"/>
              </a:defRPr>
            </a:defPPr>
          </a:lstStyle>
          <a:p xmlns:a="http://schemas.openxmlformats.org/drawingml/2006/main">
            <a:pPr algn="l">
              <a:defRPr sz="1650" b="0">
                <a:solidFill>
                  <a:srgbClr val="182A42"/>
                </a:solidFill>
                <a:latin typeface="Arial"/>
                <a:ea typeface="Arial"/>
                <a:cs typeface="Arial"/>
              </a:defRPr>
            </a:pPr>
            <a:r>
              <a:rPr sz="1650" b="0">
                <a:solidFill>
                  <a:srgbClr val="182A42"/>
                </a:solidFill>
                <a:latin typeface="Arial"/>
                <a:ea typeface="Arial"/>
                <a:cs typeface="Arial"/>
              </a:rPr>
              <a:t>MAE 5.8953</a:t>
            </a:r>
          </a:p>
          <a:p xmlns:a="http://schemas.openxmlformats.org/drawingml/2006/main">
            <a:pPr algn="l">
              <a:defRPr sz="1650" b="0">
                <a:solidFill>
                  <a:srgbClr val="182A42"/>
                </a:solidFill>
                <a:latin typeface="Arial"/>
                <a:ea typeface="Arial"/>
                <a:cs typeface="Arial"/>
              </a:defRPr>
            </a:pPr>
            <a:r>
              <a:rPr sz="1650" b="0">
                <a:solidFill>
                  <a:srgbClr val="182A42"/>
                </a:solidFill>
                <a:latin typeface="Arial"/>
                <a:ea typeface="Arial"/>
                <a:cs typeface="Arial"/>
              </a:rPr>
              <a:t>RMSE 7.6174</a:t>
            </a:r>
          </a:p>
        </p:txBody>
      </p:sp>
      <p:sp>
        <p:nvSpPr>
          <p:cNvPr id="11" name="">
            <a:extLst xmlns:a="http://schemas.openxmlformats.org/drawingml/2006/main">
              <a:ext uri="{FF2B5EF4-FFF2-40B4-BE49-F238E27FC236}">
                <a16:creationId xmlns:a16="http://schemas.microsoft.com/office/drawing/2014/main" id="{06CD16DE-DC87-4837-A0F6-76271EEAE545}"/>
              </a:ext>
            </a:extLst>
          </p:cNvPr>
          <p:cNvSpPr>
            <a:spLocks xmlns:a="http://schemas.openxmlformats.org/drawingml/2006/main" noGrp="1"/>
          </p:cNvSpPr>
          <p:nvPr/>
        </p:nvSpPr>
        <p:spPr>
          <a:xfrm xmlns:a="http://schemas.openxmlformats.org/drawingml/2006/main">
            <a:off x="8696325" y="40100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82A42"/>
                </a:solidFill>
                <a:latin typeface="Arial"/>
                <a:ea typeface="Arial"/>
                <a:cs typeface="Arial"/>
              </a:defRPr>
            </a:defPPr>
          </a:lstStyle>
          <a:p xmlns:a="http://schemas.openxmlformats.org/drawingml/2006/main">
            <a:pPr algn="l">
              <a:defRPr sz="1725" b="1">
                <a:solidFill>
                  <a:srgbClr val="182A42"/>
                </a:solidFill>
                <a:latin typeface="Arial"/>
                <a:ea typeface="Arial"/>
                <a:cs typeface="Arial"/>
              </a:defRPr>
            </a:pPr>
            <a:r>
              <a:rPr sz="1725" b="1">
                <a:solidFill>
                  <a:srgbClr val="182A42"/>
                </a:solidFill>
                <a:latin typeface="Arial"/>
                <a:ea typeface="Arial"/>
                <a:cs typeface="Arial"/>
              </a:rPr>
              <a:t>Persistence</a:t>
            </a:r>
          </a:p>
        </p:txBody>
      </p:sp>
      <p:sp>
        <p:nvSpPr>
          <p:cNvPr id="12" name="">
            <a:extLst xmlns:a="http://schemas.openxmlformats.org/drawingml/2006/main">
              <a:ext uri="{FF2B5EF4-FFF2-40B4-BE49-F238E27FC236}">
                <a16:creationId xmlns:a16="http://schemas.microsoft.com/office/drawing/2014/main" id="{799A74BC-DA1A-4BD5-8439-214D02DD47CF}"/>
              </a:ext>
            </a:extLst>
          </p:cNvPr>
          <p:cNvSpPr>
            <a:spLocks xmlns:a="http://schemas.openxmlformats.org/drawingml/2006/main" noGrp="1"/>
          </p:cNvSpPr>
          <p:nvPr/>
        </p:nvSpPr>
        <p:spPr>
          <a:xfrm xmlns:a="http://schemas.openxmlformats.org/drawingml/2006/main">
            <a:off x="8696325" y="4400550"/>
            <a:ext cx="2333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82A42"/>
                </a:solidFill>
                <a:latin typeface="Arial"/>
                <a:ea typeface="Arial"/>
                <a:cs typeface="Arial"/>
              </a:defRPr>
            </a:defPPr>
          </a:lstStyle>
          <a:p xmlns:a="http://schemas.openxmlformats.org/drawingml/2006/main">
            <a:pPr algn="l">
              <a:defRPr sz="1650" b="0">
                <a:solidFill>
                  <a:srgbClr val="182A42"/>
                </a:solidFill>
                <a:latin typeface="Arial"/>
                <a:ea typeface="Arial"/>
                <a:cs typeface="Arial"/>
              </a:defRPr>
            </a:pPr>
            <a:r>
              <a:rPr sz="1650" b="0">
                <a:solidFill>
                  <a:srgbClr val="182A42"/>
                </a:solidFill>
                <a:latin typeface="Arial"/>
                <a:ea typeface="Arial"/>
                <a:cs typeface="Arial"/>
              </a:rPr>
              <a:t>MAE 4.8298</a:t>
            </a:r>
          </a:p>
          <a:p xmlns:a="http://schemas.openxmlformats.org/drawingml/2006/main">
            <a:pPr algn="l">
              <a:defRPr sz="1650" b="0">
                <a:solidFill>
                  <a:srgbClr val="182A42"/>
                </a:solidFill>
                <a:latin typeface="Arial"/>
                <a:ea typeface="Arial"/>
                <a:cs typeface="Arial"/>
              </a:defRPr>
            </a:pPr>
            <a:r>
              <a:rPr sz="1650" b="0">
                <a:solidFill>
                  <a:srgbClr val="182A42"/>
                </a:solidFill>
                <a:latin typeface="Arial"/>
                <a:ea typeface="Arial"/>
                <a:cs typeface="Arial"/>
              </a:rPr>
              <a:t>RMSE 6.1731</a:t>
            </a:r>
          </a:p>
        </p:txBody>
      </p:sp>
    </p:spTree>
    <p:extLst>
      <p:ext uri="{BB962C8B-B14F-4D97-AF65-F5344CB8AC3E}">
        <p14:creationId xmlns:p14="http://schemas.microsoft.com/office/powerpoint/2010/main" val="21368049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E1088AE-C003-4558-92C7-99CDDA17758A}"/>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2E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FF932B-12A7-4483-9C92-3364639D32CD}"/>
              </a:ext>
            </a:extLst>
          </p:cNvPr>
          <p:cNvSpPr>
            <a:spLocks xmlns:a="http://schemas.openxmlformats.org/drawingml/2006/main" noGrp="1"/>
          </p:cNvSpPr>
          <p:nvPr/>
        </p:nvSpPr>
        <p:spPr>
          <a:xfrm xmlns:a="http://schemas.openxmlformats.org/drawingml/2006/main">
            <a:off x="666750" y="3810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625" b="1">
                <a:solidFill>
                  <a:srgbClr val="142E52"/>
                </a:solidFill>
                <a:latin typeface="Arial"/>
                <a:ea typeface="Arial"/>
                <a:cs typeface="Arial"/>
              </a:defRPr>
            </a:defPPr>
          </a:lstStyle>
          <a:p xmlns:a="http://schemas.openxmlformats.org/drawingml/2006/main">
            <a:pPr algn="l">
              <a:defRPr sz="2625" b="1">
                <a:solidFill>
                  <a:srgbClr val="142E52"/>
                </a:solidFill>
                <a:latin typeface="Arial"/>
                <a:ea typeface="Arial"/>
                <a:cs typeface="Arial"/>
              </a:defRPr>
            </a:pPr>
            <a:r>
              <a:rPr sz="2625" b="1">
                <a:solidFill>
                  <a:srgbClr val="142E52"/>
                </a:solidFill>
                <a:latin typeface="Arial"/>
                <a:ea typeface="Arial"/>
                <a:cs typeface="Arial"/>
              </a:rPr>
              <a:t>Forecast to replica recommendation</a:t>
            </a:r>
          </a:p>
        </p:txBody>
      </p:sp>
      <p:sp>
        <p:nvSpPr>
          <p:cNvPr id="3" name="">
            <a:extLst xmlns:a="http://schemas.openxmlformats.org/drawingml/2006/main">
              <a:ext uri="{FF2B5EF4-FFF2-40B4-BE49-F238E27FC236}">
                <a16:creationId xmlns:a16="http://schemas.microsoft.com/office/drawing/2014/main" id="{92E93515-BD10-4337-B32C-C1591FF7AC30}"/>
              </a:ext>
            </a:extLst>
          </p:cNvPr>
          <p:cNvSpPr>
            <a:spLocks xmlns:a="http://schemas.openxmlformats.org/drawingml/2006/main" noGrp="1"/>
          </p:cNvSpPr>
          <p:nvPr/>
        </p:nvSpPr>
        <p:spPr>
          <a:xfrm xmlns:a="http://schemas.openxmlformats.org/drawingml/2006/main">
            <a:off x="685800" y="10001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C6D7D"/>
                </a:solidFill>
                <a:latin typeface="Arial"/>
                <a:ea typeface="Arial"/>
                <a:cs typeface="Arial"/>
              </a:defRPr>
            </a:defPPr>
          </a:lstStyle>
          <a:p xmlns:a="http://schemas.openxmlformats.org/drawingml/2006/main">
            <a:pPr algn="l">
              <a:defRPr sz="1350" b="0">
                <a:solidFill>
                  <a:srgbClr val="5C6D7D"/>
                </a:solidFill>
                <a:latin typeface="Arial"/>
                <a:ea typeface="Arial"/>
                <a:cs typeface="Arial"/>
              </a:defRPr>
            </a:pPr>
            <a:r>
              <a:rPr sz="1350" b="0">
                <a:solidFill>
                  <a:srgbClr val="5C6D7D"/>
                </a:solidFill>
                <a:latin typeface="Arial"/>
                <a:ea typeface="Arial"/>
                <a:cs typeface="Arial"/>
              </a:rPr>
              <a:t>Capacity is a presentation heuristic, not measured service capacity</a:t>
            </a:r>
          </a:p>
        </p:txBody>
      </p:sp>
      <p:sp>
        <p:nvSpPr>
          <p:cNvPr id="4" name="">
            <a:extLst xmlns:a="http://schemas.openxmlformats.org/drawingml/2006/main">
              <a:ext uri="{FF2B5EF4-FFF2-40B4-BE49-F238E27FC236}">
                <a16:creationId xmlns:a16="http://schemas.microsoft.com/office/drawing/2014/main" id="{34299B1F-0EDF-4BE3-8409-0497222A9E93}"/>
              </a:ext>
            </a:extLst>
          </p:cNvPr>
          <p:cNvSpPr>
            <a:spLocks xmlns:a="http://schemas.openxmlformats.org/drawingml/2006/main" noGrp="1"/>
          </p:cNvSpPr>
          <p:nvPr/>
        </p:nvSpPr>
        <p:spPr>
          <a:xfrm xmlns:a="http://schemas.openxmlformats.org/drawingml/2006/main">
            <a:off x="666750" y="6286500"/>
            <a:ext cx="10858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1C80C54-9554-49E9-98EB-25825ED1764D}"/>
              </a:ext>
            </a:extLst>
          </p:cNvPr>
          <p:cNvSpPr>
            <a:spLocks xmlns:a="http://schemas.openxmlformats.org/drawingml/2006/main" noGrp="1"/>
          </p:cNvSpPr>
          <p:nvPr/>
        </p:nvSpPr>
        <p:spPr>
          <a:xfrm xmlns:a="http://schemas.openxmlformats.org/drawingml/2006/main">
            <a:off x="666750" y="63722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C6D7D"/>
                </a:solidFill>
                <a:latin typeface="Arial"/>
                <a:ea typeface="Arial"/>
                <a:cs typeface="Arial"/>
              </a:defRPr>
            </a:defPPr>
          </a:lstStyle>
          <a:p xmlns:a="http://schemas.openxmlformats.org/drawingml/2006/main">
            <a:pPr algn="l">
              <a:defRPr sz="975" b="0">
                <a:solidFill>
                  <a:srgbClr val="5C6D7D"/>
                </a:solidFill>
                <a:latin typeface="Arial"/>
                <a:ea typeface="Arial"/>
                <a:cs typeface="Arial"/>
              </a:defRPr>
            </a:pPr>
            <a:r>
              <a:rPr sz="975" b="0">
                <a:solidFill>
                  <a:srgbClr val="5C6D7D"/>
                </a:solidFill>
                <a:latin typeface="Arial"/>
                <a:ea typeface="Arial"/>
                <a:cs typeface="Arial"/>
              </a:rPr>
              <a:t>Intelligent Autoscaling of Microservices</a:t>
            </a:r>
          </a:p>
        </p:txBody>
      </p:sp>
      <p:sp>
        <p:nvSpPr>
          <p:cNvPr id="6" name="">
            <a:extLst xmlns:a="http://schemas.openxmlformats.org/drawingml/2006/main">
              <a:ext uri="{FF2B5EF4-FFF2-40B4-BE49-F238E27FC236}">
                <a16:creationId xmlns:a16="http://schemas.microsoft.com/office/drawing/2014/main" id="{07A82A9F-2F4A-49BF-A838-041AEE23AEFB}"/>
              </a:ext>
            </a:extLst>
          </p:cNvPr>
          <p:cNvSpPr>
            <a:spLocks xmlns:a="http://schemas.openxmlformats.org/drawingml/2006/main" noGrp="1"/>
          </p:cNvSpPr>
          <p:nvPr/>
        </p:nvSpPr>
        <p:spPr>
          <a:xfrm xmlns:a="http://schemas.openxmlformats.org/drawingml/2006/main">
            <a:off x="10991850" y="63531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C6D7D"/>
                </a:solidFill>
                <a:latin typeface="Arial"/>
                <a:ea typeface="Arial"/>
                <a:cs typeface="Arial"/>
              </a:defRPr>
            </a:defPPr>
          </a:lstStyle>
          <a:p xmlns:a="http://schemas.openxmlformats.org/drawingml/2006/main">
            <a:pPr algn="r">
              <a:defRPr sz="1050" b="1">
                <a:solidFill>
                  <a:srgbClr val="5C6D7D"/>
                </a:solidFill>
                <a:latin typeface="Arial"/>
                <a:ea typeface="Arial"/>
                <a:cs typeface="Arial"/>
              </a:defRPr>
            </a:pPr>
            <a:r>
              <a:rPr sz="1050" b="1">
                <a:solidFill>
                  <a:srgbClr val="5C6D7D"/>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74718580-BEAF-44EF-8454-FFAEF0190F18}"/>
              </a:ext>
            </a:extLst>
          </p:cNvPr>
          <p:cNvSpPr>
            <a:spLocks xmlns:a="http://schemas.openxmlformats.org/drawingml/2006/main" noGrp="1"/>
          </p:cNvSpPr>
          <p:nvPr/>
        </p:nvSpPr>
        <p:spPr>
          <a:xfrm xmlns:a="http://schemas.openxmlformats.org/drawingml/2006/main">
            <a:off x="685800" y="18002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087F9C"/>
                </a:solidFill>
                <a:latin typeface="Arial"/>
                <a:ea typeface="Arial"/>
                <a:cs typeface="Arial"/>
              </a:defRPr>
            </a:defPPr>
          </a:lstStyle>
          <a:p xmlns:a="http://schemas.openxmlformats.org/drawingml/2006/main">
            <a:pPr algn="l">
              <a:defRPr sz="1275" b="1">
                <a:solidFill>
                  <a:srgbClr val="087F9C"/>
                </a:solidFill>
                <a:latin typeface="Arial"/>
                <a:ea typeface="Arial"/>
                <a:cs typeface="Arial"/>
              </a:defRPr>
            </a:pPr>
            <a:r>
              <a:rPr sz="1275" b="1">
                <a:solidFill>
                  <a:srgbClr val="087F9C"/>
                </a:solidFill>
                <a:latin typeface="Arial"/>
                <a:ea typeface="Arial"/>
                <a:cs typeface="Arial"/>
              </a:rPr>
              <a:t>RULE</a:t>
            </a:r>
          </a:p>
        </p:txBody>
      </p:sp>
      <p:sp>
        <p:nvSpPr>
          <p:cNvPr id="8" name="">
            <a:extLst xmlns:a="http://schemas.openxmlformats.org/drawingml/2006/main">
              <a:ext uri="{FF2B5EF4-FFF2-40B4-BE49-F238E27FC236}">
                <a16:creationId xmlns:a16="http://schemas.microsoft.com/office/drawing/2014/main" id="{5F644FB9-A2C2-40BD-A694-67EA24236BD3}"/>
              </a:ext>
            </a:extLst>
          </p:cNvPr>
          <p:cNvSpPr>
            <a:spLocks xmlns:a="http://schemas.openxmlformats.org/drawingml/2006/main" noGrp="1"/>
          </p:cNvSpPr>
          <p:nvPr/>
        </p:nvSpPr>
        <p:spPr>
          <a:xfrm xmlns:a="http://schemas.openxmlformats.org/drawingml/2006/main">
            <a:off x="685800" y="2190750"/>
            <a:ext cx="10715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925" b="1">
                <a:solidFill>
                  <a:srgbClr val="142E52"/>
                </a:solidFill>
                <a:latin typeface="Arial"/>
                <a:ea typeface="Arial"/>
                <a:cs typeface="Arial"/>
              </a:defRPr>
            </a:defPPr>
          </a:lstStyle>
          <a:p xmlns:a="http://schemas.openxmlformats.org/drawingml/2006/main">
            <a:pPr algn="l">
              <a:defRPr sz="2925" b="1">
                <a:solidFill>
                  <a:srgbClr val="142E52"/>
                </a:solidFill>
                <a:latin typeface="Arial"/>
                <a:ea typeface="Arial"/>
                <a:cs typeface="Arial"/>
              </a:defRPr>
            </a:pPr>
            <a:r>
              <a:rPr sz="2925" b="1">
                <a:solidFill>
                  <a:srgbClr val="142E52"/>
                </a:solidFill>
                <a:latin typeface="Arial"/>
                <a:ea typeface="Arial"/>
                <a:cs typeface="Arial"/>
              </a:rPr>
              <a:t>ceil( call rate × safety factor ÷ capacity per replica )</a:t>
            </a:r>
          </a:p>
        </p:txBody>
      </p:sp>
      <p:sp>
        <p:nvSpPr>
          <p:cNvPr id="9" name="">
            <a:extLst xmlns:a="http://schemas.openxmlformats.org/drawingml/2006/main">
              <a:ext uri="{FF2B5EF4-FFF2-40B4-BE49-F238E27FC236}">
                <a16:creationId xmlns:a16="http://schemas.microsoft.com/office/drawing/2014/main" id="{1CA45CC2-2D30-430C-A9A3-361CD787BA99}"/>
              </a:ext>
            </a:extLst>
          </p:cNvPr>
          <p:cNvSpPr>
            <a:spLocks xmlns:a="http://schemas.openxmlformats.org/drawingml/2006/main" noGrp="1"/>
          </p:cNvSpPr>
          <p:nvPr/>
        </p:nvSpPr>
        <p:spPr>
          <a:xfrm xmlns:a="http://schemas.openxmlformats.org/drawingml/2006/main">
            <a:off x="704850" y="3267075"/>
            <a:ext cx="10715625"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0329418-8755-41E6-9C04-D407826BAFFF}"/>
              </a:ext>
            </a:extLst>
          </p:cNvPr>
          <p:cNvSpPr>
            <a:spLocks xmlns:a="http://schemas.openxmlformats.org/drawingml/2006/main" noGrp="1"/>
          </p:cNvSpPr>
          <p:nvPr/>
        </p:nvSpPr>
        <p:spPr>
          <a:xfrm xmlns:a="http://schemas.openxmlformats.org/drawingml/2006/main">
            <a:off x="704850" y="36004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087F9C"/>
                </a:solidFill>
                <a:latin typeface="Arial"/>
                <a:ea typeface="Arial"/>
                <a:cs typeface="Arial"/>
              </a:defRPr>
            </a:defPPr>
          </a:lstStyle>
          <a:p xmlns:a="http://schemas.openxmlformats.org/drawingml/2006/main">
            <a:pPr algn="l">
              <a:defRPr sz="1275" b="1">
                <a:solidFill>
                  <a:srgbClr val="087F9C"/>
                </a:solidFill>
                <a:latin typeface="Arial"/>
                <a:ea typeface="Arial"/>
                <a:cs typeface="Arial"/>
              </a:defRPr>
            </a:pPr>
            <a:r>
              <a:rPr sz="1275" b="1">
                <a:solidFill>
                  <a:srgbClr val="087F9C"/>
                </a:solidFill>
                <a:latin typeface="Arial"/>
                <a:ea typeface="Arial"/>
                <a:cs typeface="Arial"/>
              </a:rPr>
              <a:t>WORKED EXAMPLE</a:t>
            </a:r>
          </a:p>
        </p:txBody>
      </p:sp>
      <p:sp>
        <p:nvSpPr>
          <p:cNvPr id="11" name="">
            <a:extLst xmlns:a="http://schemas.openxmlformats.org/drawingml/2006/main">
              <a:ext uri="{FF2B5EF4-FFF2-40B4-BE49-F238E27FC236}">
                <a16:creationId xmlns:a16="http://schemas.microsoft.com/office/drawing/2014/main" id="{0D219E68-87E7-4155-9271-0051F2442AE5}"/>
              </a:ext>
            </a:extLst>
          </p:cNvPr>
          <p:cNvSpPr>
            <a:spLocks xmlns:a="http://schemas.openxmlformats.org/drawingml/2006/main" noGrp="1"/>
          </p:cNvSpPr>
          <p:nvPr/>
        </p:nvSpPr>
        <p:spPr>
          <a:xfrm xmlns:a="http://schemas.openxmlformats.org/drawingml/2006/main">
            <a:off x="704850" y="4048125"/>
            <a:ext cx="1028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925" b="1">
                <a:solidFill>
                  <a:srgbClr val="182A42"/>
                </a:solidFill>
                <a:latin typeface="Arial"/>
                <a:ea typeface="Arial"/>
                <a:cs typeface="Arial"/>
              </a:defRPr>
            </a:defPPr>
          </a:lstStyle>
          <a:p xmlns:a="http://schemas.openxmlformats.org/drawingml/2006/main">
            <a:pPr algn="l">
              <a:defRPr sz="2925" b="1">
                <a:solidFill>
                  <a:srgbClr val="182A42"/>
                </a:solidFill>
                <a:latin typeface="Arial"/>
                <a:ea typeface="Arial"/>
                <a:cs typeface="Arial"/>
              </a:defRPr>
            </a:pPr>
            <a:r>
              <a:rPr sz="2925" b="1">
                <a:solidFill>
                  <a:srgbClr val="182A42"/>
                </a:solidFill>
                <a:latin typeface="Arial"/>
                <a:ea typeface="Arial"/>
                <a:cs typeface="Arial"/>
              </a:rPr>
              <a:t>110 × 1.2 ÷ 50 = 2.64  →  3 replicas</a:t>
            </a:r>
          </a:p>
        </p:txBody>
      </p:sp>
      <p:sp>
        <p:nvSpPr>
          <p:cNvPr id="12" name="">
            <a:extLst xmlns:a="http://schemas.openxmlformats.org/drawingml/2006/main">
              <a:ext uri="{FF2B5EF4-FFF2-40B4-BE49-F238E27FC236}">
                <a16:creationId xmlns:a16="http://schemas.microsoft.com/office/drawing/2014/main" id="{7DA0533E-5375-4FE7-820F-4B1CA5068866}"/>
              </a:ext>
            </a:extLst>
          </p:cNvPr>
          <p:cNvSpPr>
            <a:spLocks xmlns:a="http://schemas.openxmlformats.org/drawingml/2006/main" noGrp="1"/>
          </p:cNvSpPr>
          <p:nvPr/>
        </p:nvSpPr>
        <p:spPr>
          <a:xfrm xmlns:a="http://schemas.openxmlformats.org/drawingml/2006/main">
            <a:off x="704850" y="50482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5C6D7D"/>
                </a:solidFill>
                <a:latin typeface="Arial"/>
                <a:ea typeface="Arial"/>
                <a:cs typeface="Arial"/>
              </a:defRPr>
            </a:defPPr>
          </a:lstStyle>
          <a:p xmlns:a="http://schemas.openxmlformats.org/drawingml/2006/main">
            <a:pPr algn="l">
              <a:defRPr sz="1800" b="0">
                <a:solidFill>
                  <a:srgbClr val="5C6D7D"/>
                </a:solidFill>
                <a:latin typeface="Arial"/>
                <a:ea typeface="Arial"/>
                <a:cs typeface="Arial"/>
              </a:defRPr>
            </a:pPr>
            <a:r>
              <a:rPr sz="1800" b="0">
                <a:solidFill>
                  <a:srgbClr val="5C6D7D"/>
                </a:solidFill>
                <a:latin typeface="Arial"/>
                <a:ea typeface="Arial"/>
                <a:cs typeface="Arial"/>
              </a:rPr>
              <a:t>Then clamp the result to the chosen minimum and maximum replica counts.</a:t>
            </a:r>
          </a:p>
        </p:txBody>
      </p:sp>
    </p:spTree>
    <p:extLst>
      <p:ext uri="{BB962C8B-B14F-4D97-AF65-F5344CB8AC3E}">
        <p14:creationId xmlns:p14="http://schemas.microsoft.com/office/powerpoint/2010/main" val="4303861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4CD815-B4A7-4958-BD60-2332A6BA9A75}"/>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2E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92597C-F88F-4D06-B1F9-EF845FEB28ED}"/>
              </a:ext>
            </a:extLst>
          </p:cNvPr>
          <p:cNvSpPr>
            <a:spLocks xmlns:a="http://schemas.openxmlformats.org/drawingml/2006/main" noGrp="1"/>
          </p:cNvSpPr>
          <p:nvPr/>
        </p:nvSpPr>
        <p:spPr>
          <a:xfrm xmlns:a="http://schemas.openxmlformats.org/drawingml/2006/main">
            <a:off x="666750" y="3810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625" b="1">
                <a:solidFill>
                  <a:srgbClr val="142E52"/>
                </a:solidFill>
                <a:latin typeface="Arial"/>
                <a:ea typeface="Arial"/>
                <a:cs typeface="Arial"/>
              </a:defRPr>
            </a:defPPr>
          </a:lstStyle>
          <a:p xmlns:a="http://schemas.openxmlformats.org/drawingml/2006/main">
            <a:pPr algn="l">
              <a:defRPr sz="2625" b="1">
                <a:solidFill>
                  <a:srgbClr val="142E52"/>
                </a:solidFill>
                <a:latin typeface="Arial"/>
                <a:ea typeface="Arial"/>
                <a:cs typeface="Arial"/>
              </a:defRPr>
            </a:pPr>
            <a:r>
              <a:rPr sz="2625" b="1">
                <a:solidFill>
                  <a:srgbClr val="142E52"/>
                </a:solidFill>
                <a:latin typeface="Arial"/>
                <a:ea typeface="Arial"/>
                <a:cs typeface="Arial"/>
              </a:rPr>
              <a:t>Three policies replay the same recorded traffic</a:t>
            </a:r>
          </a:p>
        </p:txBody>
      </p:sp>
      <p:sp>
        <p:nvSpPr>
          <p:cNvPr id="3" name="">
            <a:extLst xmlns:a="http://schemas.openxmlformats.org/drawingml/2006/main">
              <a:ext uri="{FF2B5EF4-FFF2-40B4-BE49-F238E27FC236}">
                <a16:creationId xmlns:a16="http://schemas.microsoft.com/office/drawing/2014/main" id="{3E3568DA-793C-4F79-9CB3-E5D3E4D28015}"/>
              </a:ext>
            </a:extLst>
          </p:cNvPr>
          <p:cNvSpPr>
            <a:spLocks xmlns:a="http://schemas.openxmlformats.org/drawingml/2006/main" noGrp="1"/>
          </p:cNvSpPr>
          <p:nvPr/>
        </p:nvSpPr>
        <p:spPr>
          <a:xfrm xmlns:a="http://schemas.openxmlformats.org/drawingml/2006/main">
            <a:off x="685800" y="10001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C6D7D"/>
                </a:solidFill>
                <a:latin typeface="Arial"/>
                <a:ea typeface="Arial"/>
                <a:cs typeface="Arial"/>
              </a:defRPr>
            </a:defPPr>
          </a:lstStyle>
          <a:p xmlns:a="http://schemas.openxmlformats.org/drawingml/2006/main">
            <a:pPr algn="l">
              <a:defRPr sz="1350" b="0">
                <a:solidFill>
                  <a:srgbClr val="5C6D7D"/>
                </a:solidFill>
                <a:latin typeface="Arial"/>
                <a:ea typeface="Arial"/>
                <a:cs typeface="Arial"/>
              </a:defRPr>
            </a:pPr>
            <a:r>
              <a:rPr sz="1350" b="0">
                <a:solidFill>
                  <a:srgbClr val="5C6D7D"/>
                </a:solidFill>
                <a:latin typeface="Arial"/>
                <a:ea typeface="Arial"/>
                <a:cs typeface="Arial"/>
              </a:rPr>
              <a:t>All start with two replicas; scaling takes one minute to arrive</a:t>
            </a:r>
          </a:p>
        </p:txBody>
      </p:sp>
      <p:sp>
        <p:nvSpPr>
          <p:cNvPr id="4" name="">
            <a:extLst xmlns:a="http://schemas.openxmlformats.org/drawingml/2006/main">
              <a:ext uri="{FF2B5EF4-FFF2-40B4-BE49-F238E27FC236}">
                <a16:creationId xmlns:a16="http://schemas.microsoft.com/office/drawing/2014/main" id="{A7105068-B2CA-4C27-AEDD-033FC2178A4E}"/>
              </a:ext>
            </a:extLst>
          </p:cNvPr>
          <p:cNvSpPr>
            <a:spLocks xmlns:a="http://schemas.openxmlformats.org/drawingml/2006/main" noGrp="1"/>
          </p:cNvSpPr>
          <p:nvPr/>
        </p:nvSpPr>
        <p:spPr>
          <a:xfrm xmlns:a="http://schemas.openxmlformats.org/drawingml/2006/main">
            <a:off x="666750" y="6286500"/>
            <a:ext cx="10858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65E0149-BC75-4BC5-82D9-5C413865C4A6}"/>
              </a:ext>
            </a:extLst>
          </p:cNvPr>
          <p:cNvSpPr>
            <a:spLocks xmlns:a="http://schemas.openxmlformats.org/drawingml/2006/main" noGrp="1"/>
          </p:cNvSpPr>
          <p:nvPr/>
        </p:nvSpPr>
        <p:spPr>
          <a:xfrm xmlns:a="http://schemas.openxmlformats.org/drawingml/2006/main">
            <a:off x="666750" y="63722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C6D7D"/>
                </a:solidFill>
                <a:latin typeface="Arial"/>
                <a:ea typeface="Arial"/>
                <a:cs typeface="Arial"/>
              </a:defRPr>
            </a:defPPr>
          </a:lstStyle>
          <a:p xmlns:a="http://schemas.openxmlformats.org/drawingml/2006/main">
            <a:pPr algn="l">
              <a:defRPr sz="975" b="0">
                <a:solidFill>
                  <a:srgbClr val="5C6D7D"/>
                </a:solidFill>
                <a:latin typeface="Arial"/>
                <a:ea typeface="Arial"/>
                <a:cs typeface="Arial"/>
              </a:defRPr>
            </a:pPr>
            <a:r>
              <a:rPr sz="975" b="0">
                <a:solidFill>
                  <a:srgbClr val="5C6D7D"/>
                </a:solidFill>
                <a:latin typeface="Arial"/>
                <a:ea typeface="Arial"/>
                <a:cs typeface="Arial"/>
              </a:rPr>
              <a:t>Intelligent Autoscaling of Microservices</a:t>
            </a:r>
          </a:p>
        </p:txBody>
      </p:sp>
      <p:sp>
        <p:nvSpPr>
          <p:cNvPr id="6" name="">
            <a:extLst xmlns:a="http://schemas.openxmlformats.org/drawingml/2006/main">
              <a:ext uri="{FF2B5EF4-FFF2-40B4-BE49-F238E27FC236}">
                <a16:creationId xmlns:a16="http://schemas.microsoft.com/office/drawing/2014/main" id="{CF47278B-9E28-45A7-81DB-A921E11A0726}"/>
              </a:ext>
            </a:extLst>
          </p:cNvPr>
          <p:cNvSpPr>
            <a:spLocks xmlns:a="http://schemas.openxmlformats.org/drawingml/2006/main" noGrp="1"/>
          </p:cNvSpPr>
          <p:nvPr/>
        </p:nvSpPr>
        <p:spPr>
          <a:xfrm xmlns:a="http://schemas.openxmlformats.org/drawingml/2006/main">
            <a:off x="10991850" y="63531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C6D7D"/>
                </a:solidFill>
                <a:latin typeface="Arial"/>
                <a:ea typeface="Arial"/>
                <a:cs typeface="Arial"/>
              </a:defRPr>
            </a:defPPr>
          </a:lstStyle>
          <a:p xmlns:a="http://schemas.openxmlformats.org/drawingml/2006/main">
            <a:pPr algn="r">
              <a:defRPr sz="1050" b="1">
                <a:solidFill>
                  <a:srgbClr val="5C6D7D"/>
                </a:solidFill>
                <a:latin typeface="Arial"/>
                <a:ea typeface="Arial"/>
                <a:cs typeface="Arial"/>
              </a:defRPr>
            </a:pPr>
            <a:r>
              <a:rPr sz="1050" b="1">
                <a:solidFill>
                  <a:srgbClr val="5C6D7D"/>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C75D6615-5936-4C8A-852C-B282527537CC}"/>
              </a:ext>
            </a:extLst>
          </p:cNvPr>
          <p:cNvSpPr>
            <a:spLocks xmlns:a="http://schemas.openxmlformats.org/drawingml/2006/main" noGrp="1"/>
          </p:cNvSpPr>
          <p:nvPr/>
        </p:nvSpPr>
        <p:spPr>
          <a:xfrm xmlns:a="http://schemas.openxmlformats.org/drawingml/2006/main">
            <a:off x="666750" y="1971675"/>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325" b="1">
                <a:solidFill>
                  <a:srgbClr val="142E52"/>
                </a:solidFill>
                <a:latin typeface="Arial"/>
                <a:ea typeface="Arial"/>
                <a:cs typeface="Arial"/>
              </a:defRPr>
            </a:defPPr>
          </a:lstStyle>
          <a:p xmlns:a="http://schemas.openxmlformats.org/drawingml/2006/main">
            <a:pPr algn="l">
              <a:defRPr sz="2325" b="1">
                <a:solidFill>
                  <a:srgbClr val="142E52"/>
                </a:solidFill>
                <a:latin typeface="Arial"/>
                <a:ea typeface="Arial"/>
                <a:cs typeface="Arial"/>
              </a:defRPr>
            </a:pPr>
            <a:r>
              <a:rPr sz="2325" b="1">
                <a:solidFill>
                  <a:srgbClr val="142E52"/>
                </a:solidFill>
                <a:latin typeface="Arial"/>
                <a:ea typeface="Arial"/>
                <a:cs typeface="Arial"/>
              </a:rPr>
              <a:t>Fixed</a:t>
            </a:r>
          </a:p>
        </p:txBody>
      </p:sp>
      <p:sp>
        <p:nvSpPr>
          <p:cNvPr id="8" name="">
            <a:extLst xmlns:a="http://schemas.openxmlformats.org/drawingml/2006/main">
              <a:ext uri="{FF2B5EF4-FFF2-40B4-BE49-F238E27FC236}">
                <a16:creationId xmlns:a16="http://schemas.microsoft.com/office/drawing/2014/main" id="{1D1C3321-F177-47B1-B356-65F26E6F73F0}"/>
              </a:ext>
            </a:extLst>
          </p:cNvPr>
          <p:cNvSpPr>
            <a:spLocks xmlns:a="http://schemas.openxmlformats.org/drawingml/2006/main" noGrp="1"/>
          </p:cNvSpPr>
          <p:nvPr/>
        </p:nvSpPr>
        <p:spPr>
          <a:xfrm xmlns:a="http://schemas.openxmlformats.org/drawingml/2006/main">
            <a:off x="666750" y="2571750"/>
            <a:ext cx="3238500" cy="38100"/>
          </a:xfrm>
          <a:prstGeom xmlns:a="http://schemas.openxmlformats.org/drawingml/2006/main" prst="rect">
            <a:avLst/>
          </a:prstGeom>
          <a:solidFill xmlns:a="http://schemas.openxmlformats.org/drawingml/2006/main">
            <a:srgbClr val="5C6D7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B7DE04E-F8F6-47D5-B8EA-45D277AB8EAF}"/>
              </a:ext>
            </a:extLst>
          </p:cNvPr>
          <p:cNvSpPr>
            <a:spLocks xmlns:a="http://schemas.openxmlformats.org/drawingml/2006/main" noGrp="1"/>
          </p:cNvSpPr>
          <p:nvPr/>
        </p:nvSpPr>
        <p:spPr>
          <a:xfrm xmlns:a="http://schemas.openxmlformats.org/drawingml/2006/main">
            <a:off x="666750" y="2857500"/>
            <a:ext cx="3238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0">
                <a:solidFill>
                  <a:srgbClr val="182A42"/>
                </a:solidFill>
                <a:latin typeface="Arial"/>
                <a:ea typeface="Arial"/>
                <a:cs typeface="Arial"/>
              </a:defRPr>
            </a:defPPr>
          </a:lstStyle>
          <a:p xmlns:a="http://schemas.openxmlformats.org/drawingml/2006/main">
            <a:pPr algn="l">
              <a:defRPr sz="2025" b="0">
                <a:solidFill>
                  <a:srgbClr val="182A42"/>
                </a:solidFill>
                <a:latin typeface="Arial"/>
                <a:ea typeface="Arial"/>
                <a:cs typeface="Arial"/>
              </a:defRPr>
            </a:pPr>
            <a:r>
              <a:rPr sz="2025" b="0">
                <a:solidFill>
                  <a:srgbClr val="182A42"/>
                </a:solidFill>
                <a:latin typeface="Arial"/>
                <a:ea typeface="Arial"/>
                <a:cs typeface="Arial"/>
              </a:rPr>
              <a:t>Hold two replicas for the whole window. No scaling action.</a:t>
            </a:r>
          </a:p>
        </p:txBody>
      </p:sp>
      <p:sp>
        <p:nvSpPr>
          <p:cNvPr id="10" name="">
            <a:extLst xmlns:a="http://schemas.openxmlformats.org/drawingml/2006/main">
              <a:ext uri="{FF2B5EF4-FFF2-40B4-BE49-F238E27FC236}">
                <a16:creationId xmlns:a16="http://schemas.microsoft.com/office/drawing/2014/main" id="{8A0D8D02-B70E-4CF6-AA84-2599CC782906}"/>
              </a:ext>
            </a:extLst>
          </p:cNvPr>
          <p:cNvSpPr>
            <a:spLocks xmlns:a="http://schemas.openxmlformats.org/drawingml/2006/main" noGrp="1"/>
          </p:cNvSpPr>
          <p:nvPr/>
        </p:nvSpPr>
        <p:spPr>
          <a:xfrm xmlns:a="http://schemas.openxmlformats.org/drawingml/2006/main">
            <a:off x="4305300" y="1971675"/>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325" b="1">
                <a:solidFill>
                  <a:srgbClr val="142E52"/>
                </a:solidFill>
                <a:latin typeface="Arial"/>
                <a:ea typeface="Arial"/>
                <a:cs typeface="Arial"/>
              </a:defRPr>
            </a:defPPr>
          </a:lstStyle>
          <a:p xmlns:a="http://schemas.openxmlformats.org/drawingml/2006/main">
            <a:pPr algn="l">
              <a:defRPr sz="2325" b="1">
                <a:solidFill>
                  <a:srgbClr val="142E52"/>
                </a:solidFill>
                <a:latin typeface="Arial"/>
                <a:ea typeface="Arial"/>
                <a:cs typeface="Arial"/>
              </a:defRPr>
            </a:pPr>
            <a:r>
              <a:rPr sz="2325" b="1">
                <a:solidFill>
                  <a:srgbClr val="142E52"/>
                </a:solidFill>
                <a:latin typeface="Arial"/>
                <a:ea typeface="Arial"/>
                <a:cs typeface="Arial"/>
              </a:rPr>
              <a:t>Reactive</a:t>
            </a:r>
          </a:p>
        </p:txBody>
      </p:sp>
      <p:sp>
        <p:nvSpPr>
          <p:cNvPr id="11" name="">
            <a:extLst xmlns:a="http://schemas.openxmlformats.org/drawingml/2006/main">
              <a:ext uri="{FF2B5EF4-FFF2-40B4-BE49-F238E27FC236}">
                <a16:creationId xmlns:a16="http://schemas.microsoft.com/office/drawing/2014/main" id="{985DE653-8887-444A-9E4B-547541F164E1}"/>
              </a:ext>
            </a:extLst>
          </p:cNvPr>
          <p:cNvSpPr>
            <a:spLocks xmlns:a="http://schemas.openxmlformats.org/drawingml/2006/main" noGrp="1"/>
          </p:cNvSpPr>
          <p:nvPr/>
        </p:nvSpPr>
        <p:spPr>
          <a:xfrm xmlns:a="http://schemas.openxmlformats.org/drawingml/2006/main">
            <a:off x="4305300" y="2571750"/>
            <a:ext cx="3238500" cy="38100"/>
          </a:xfrm>
          <a:prstGeom xmlns:a="http://schemas.openxmlformats.org/drawingml/2006/main" prst="rect">
            <a:avLst/>
          </a:prstGeom>
          <a:solidFill xmlns:a="http://schemas.openxmlformats.org/drawingml/2006/main">
            <a:srgbClr val="D7862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ABA5763-41A6-4BBE-82DE-DAF444E6CC22}"/>
              </a:ext>
            </a:extLst>
          </p:cNvPr>
          <p:cNvSpPr>
            <a:spLocks xmlns:a="http://schemas.openxmlformats.org/drawingml/2006/main" noGrp="1"/>
          </p:cNvSpPr>
          <p:nvPr/>
        </p:nvSpPr>
        <p:spPr>
          <a:xfrm xmlns:a="http://schemas.openxmlformats.org/drawingml/2006/main">
            <a:off x="4305300" y="2857500"/>
            <a:ext cx="3238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0">
                <a:solidFill>
                  <a:srgbClr val="182A42"/>
                </a:solidFill>
                <a:latin typeface="Arial"/>
                <a:ea typeface="Arial"/>
                <a:cs typeface="Arial"/>
              </a:defRPr>
            </a:defPPr>
          </a:lstStyle>
          <a:p xmlns:a="http://schemas.openxmlformats.org/drawingml/2006/main">
            <a:pPr algn="l">
              <a:defRPr sz="2025" b="0">
                <a:solidFill>
                  <a:srgbClr val="182A42"/>
                </a:solidFill>
                <a:latin typeface="Arial"/>
                <a:ea typeface="Arial"/>
                <a:cs typeface="Arial"/>
              </a:defRPr>
            </a:pPr>
            <a:r>
              <a:rPr sz="2025" b="0">
                <a:solidFill>
                  <a:srgbClr val="182A42"/>
                </a:solidFill>
                <a:latin typeface="Arial"/>
                <a:ea typeface="Arial"/>
                <a:cs typeface="Arial"/>
              </a:rPr>
              <a:t>Use current observed call rate to request a replica count.</a:t>
            </a:r>
          </a:p>
        </p:txBody>
      </p:sp>
      <p:sp>
        <p:nvSpPr>
          <p:cNvPr id="13" name="">
            <a:extLst xmlns:a="http://schemas.openxmlformats.org/drawingml/2006/main">
              <a:ext uri="{FF2B5EF4-FFF2-40B4-BE49-F238E27FC236}">
                <a16:creationId xmlns:a16="http://schemas.microsoft.com/office/drawing/2014/main" id="{84891EC3-25EA-40C8-9722-BEE66CB210E1}"/>
              </a:ext>
            </a:extLst>
          </p:cNvPr>
          <p:cNvSpPr>
            <a:spLocks xmlns:a="http://schemas.openxmlformats.org/drawingml/2006/main" noGrp="1"/>
          </p:cNvSpPr>
          <p:nvPr/>
        </p:nvSpPr>
        <p:spPr>
          <a:xfrm xmlns:a="http://schemas.openxmlformats.org/drawingml/2006/main">
            <a:off x="7943850" y="1971675"/>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325" b="1">
                <a:solidFill>
                  <a:srgbClr val="009AA6"/>
                </a:solidFill>
                <a:latin typeface="Arial"/>
                <a:ea typeface="Arial"/>
                <a:cs typeface="Arial"/>
              </a:defRPr>
            </a:defPPr>
          </a:lstStyle>
          <a:p xmlns:a="http://schemas.openxmlformats.org/drawingml/2006/main">
            <a:pPr algn="l">
              <a:defRPr sz="2325" b="1">
                <a:solidFill>
                  <a:srgbClr val="009AA6"/>
                </a:solidFill>
                <a:latin typeface="Arial"/>
                <a:ea typeface="Arial"/>
                <a:cs typeface="Arial"/>
              </a:defRPr>
            </a:pPr>
            <a:r>
              <a:rPr sz="2325" b="1">
                <a:solidFill>
                  <a:srgbClr val="009AA6"/>
                </a:solidFill>
                <a:latin typeface="Arial"/>
                <a:ea typeface="Arial"/>
                <a:cs typeface="Arial"/>
              </a:rPr>
              <a:t>Predictive</a:t>
            </a:r>
          </a:p>
        </p:txBody>
      </p:sp>
      <p:sp>
        <p:nvSpPr>
          <p:cNvPr id="14" name="">
            <a:extLst xmlns:a="http://schemas.openxmlformats.org/drawingml/2006/main">
              <a:ext uri="{FF2B5EF4-FFF2-40B4-BE49-F238E27FC236}">
                <a16:creationId xmlns:a16="http://schemas.microsoft.com/office/drawing/2014/main" id="{713854FD-7F88-402D-8C1E-0F7103BA96BA}"/>
              </a:ext>
            </a:extLst>
          </p:cNvPr>
          <p:cNvSpPr>
            <a:spLocks xmlns:a="http://schemas.openxmlformats.org/drawingml/2006/main" noGrp="1"/>
          </p:cNvSpPr>
          <p:nvPr/>
        </p:nvSpPr>
        <p:spPr>
          <a:xfrm xmlns:a="http://schemas.openxmlformats.org/drawingml/2006/main">
            <a:off x="7943850" y="2571750"/>
            <a:ext cx="3238500" cy="38100"/>
          </a:xfrm>
          <a:prstGeom xmlns:a="http://schemas.openxmlformats.org/drawingml/2006/main" prst="rect">
            <a:avLst/>
          </a:prstGeom>
          <a:solidFill xmlns:a="http://schemas.openxmlformats.org/drawingml/2006/main">
            <a:srgbClr val="009AA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7EEA587-16CD-47B6-BC12-2E2EB92EAABC}"/>
              </a:ext>
            </a:extLst>
          </p:cNvPr>
          <p:cNvSpPr>
            <a:spLocks xmlns:a="http://schemas.openxmlformats.org/drawingml/2006/main" noGrp="1"/>
          </p:cNvSpPr>
          <p:nvPr/>
        </p:nvSpPr>
        <p:spPr>
          <a:xfrm xmlns:a="http://schemas.openxmlformats.org/drawingml/2006/main">
            <a:off x="7943850" y="2857500"/>
            <a:ext cx="3238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0">
                <a:solidFill>
                  <a:srgbClr val="182A42"/>
                </a:solidFill>
                <a:latin typeface="Arial"/>
                <a:ea typeface="Arial"/>
                <a:cs typeface="Arial"/>
              </a:defRPr>
            </a:defPPr>
          </a:lstStyle>
          <a:p xmlns:a="http://schemas.openxmlformats.org/drawingml/2006/main">
            <a:pPr algn="l">
              <a:defRPr sz="2025" b="0">
                <a:solidFill>
                  <a:srgbClr val="182A42"/>
                </a:solidFill>
                <a:latin typeface="Arial"/>
                <a:ea typeface="Arial"/>
                <a:cs typeface="Arial"/>
              </a:defRPr>
            </a:pPr>
            <a:r>
              <a:rPr sz="2025" b="0">
                <a:solidFill>
                  <a:srgbClr val="182A42"/>
                </a:solidFill>
                <a:latin typeface="Arial"/>
                <a:ea typeface="Arial"/>
                <a:cs typeface="Arial"/>
              </a:rPr>
              <a:t>Use the forecast for the next minute to request a replica count.</a:t>
            </a:r>
          </a:p>
        </p:txBody>
      </p:sp>
      <p:sp>
        <p:nvSpPr>
          <p:cNvPr id="16" name="">
            <a:extLst xmlns:a="http://schemas.openxmlformats.org/drawingml/2006/main">
              <a:ext uri="{FF2B5EF4-FFF2-40B4-BE49-F238E27FC236}">
                <a16:creationId xmlns:a16="http://schemas.microsoft.com/office/drawing/2014/main" id="{E8A9300E-CB84-4332-A073-7A5F440A0121}"/>
              </a:ext>
            </a:extLst>
          </p:cNvPr>
          <p:cNvSpPr>
            <a:spLocks xmlns:a="http://schemas.openxmlformats.org/drawingml/2006/main" noGrp="1"/>
          </p:cNvSpPr>
          <p:nvPr/>
        </p:nvSpPr>
        <p:spPr>
          <a:xfrm xmlns:a="http://schemas.openxmlformats.org/drawingml/2006/main">
            <a:off x="666750" y="5019675"/>
            <a:ext cx="1076325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97992DE-A6A3-4BA0-888E-44151327DE65}"/>
              </a:ext>
            </a:extLst>
          </p:cNvPr>
          <p:cNvSpPr>
            <a:spLocks xmlns:a="http://schemas.openxmlformats.org/drawingml/2006/main" noGrp="1"/>
          </p:cNvSpPr>
          <p:nvPr/>
        </p:nvSpPr>
        <p:spPr>
          <a:xfrm xmlns:a="http://schemas.openxmlformats.org/drawingml/2006/main">
            <a:off x="666750" y="5286375"/>
            <a:ext cx="10763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142E52"/>
                </a:solidFill>
                <a:latin typeface="Arial"/>
                <a:ea typeface="Arial"/>
                <a:cs typeface="Arial"/>
              </a:defRPr>
            </a:defPPr>
          </a:lstStyle>
          <a:p xmlns:a="http://schemas.openxmlformats.org/drawingml/2006/main">
            <a:pPr algn="l">
              <a:defRPr sz="1800" b="1">
                <a:solidFill>
                  <a:srgbClr val="142E52"/>
                </a:solidFill>
                <a:latin typeface="Arial"/>
                <a:ea typeface="Arial"/>
                <a:cs typeface="Arial"/>
              </a:defRPr>
            </a:pPr>
            <a:r>
              <a:rPr sz="1800" b="1">
                <a:solidFill>
                  <a:srgbClr val="142E52"/>
                </a:solidFill>
                <a:latin typeface="Arial"/>
                <a:ea typeface="Arial"/>
                <a:cs typeface="Arial"/>
              </a:rPr>
              <a:t>Simulated overload = observed call rate &gt; active replicas × heuristic capacity</a:t>
            </a:r>
          </a:p>
        </p:txBody>
      </p:sp>
    </p:spTree>
    <p:extLst>
      <p:ext uri="{BB962C8B-B14F-4D97-AF65-F5344CB8AC3E}">
        <p14:creationId xmlns:p14="http://schemas.microsoft.com/office/powerpoint/2010/main" val="16669340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CD9AFFB-709B-4531-BCA7-D04EF632AB99}"/>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2E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9DFB70-402D-4C84-AAAC-4EEAF9879A6D}"/>
              </a:ext>
            </a:extLst>
          </p:cNvPr>
          <p:cNvSpPr>
            <a:spLocks xmlns:a="http://schemas.openxmlformats.org/drawingml/2006/main" noGrp="1"/>
          </p:cNvSpPr>
          <p:nvPr/>
        </p:nvSpPr>
        <p:spPr>
          <a:xfrm xmlns:a="http://schemas.openxmlformats.org/drawingml/2006/main">
            <a:off x="666750" y="3810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625" b="1">
                <a:solidFill>
                  <a:srgbClr val="142E52"/>
                </a:solidFill>
                <a:latin typeface="Arial"/>
                <a:ea typeface="Arial"/>
                <a:cs typeface="Arial"/>
              </a:defRPr>
            </a:defPPr>
          </a:lstStyle>
          <a:p xmlns:a="http://schemas.openxmlformats.org/drawingml/2006/main">
            <a:pPr algn="l">
              <a:defRPr sz="2625" b="1">
                <a:solidFill>
                  <a:srgbClr val="142E52"/>
                </a:solidFill>
                <a:latin typeface="Arial"/>
                <a:ea typeface="Arial"/>
                <a:cs typeface="Arial"/>
              </a:defRPr>
            </a:pPr>
            <a:r>
              <a:rPr sz="2625" b="1">
                <a:solidFill>
                  <a:srgbClr val="142E52"/>
                </a:solidFill>
                <a:latin typeface="Arial"/>
                <a:ea typeface="Arial"/>
                <a:cs typeface="Arial"/>
              </a:rPr>
              <a:t>Prepared replay: minutes 118–128</a:t>
            </a:r>
          </a:p>
        </p:txBody>
      </p:sp>
      <p:sp>
        <p:nvSpPr>
          <p:cNvPr id="3" name="">
            <a:extLst xmlns:a="http://schemas.openxmlformats.org/drawingml/2006/main">
              <a:ext uri="{FF2B5EF4-FFF2-40B4-BE49-F238E27FC236}">
                <a16:creationId xmlns:a16="http://schemas.microsoft.com/office/drawing/2014/main" id="{E79CFEDB-E8D2-421D-82BE-B3F59734ABD2}"/>
              </a:ext>
            </a:extLst>
          </p:cNvPr>
          <p:cNvSpPr>
            <a:spLocks xmlns:a="http://schemas.openxmlformats.org/drawingml/2006/main" noGrp="1"/>
          </p:cNvSpPr>
          <p:nvPr/>
        </p:nvSpPr>
        <p:spPr>
          <a:xfrm xmlns:a="http://schemas.openxmlformats.org/drawingml/2006/main">
            <a:off x="685800" y="10001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C6D7D"/>
                </a:solidFill>
                <a:latin typeface="Arial"/>
                <a:ea typeface="Arial"/>
                <a:cs typeface="Arial"/>
              </a:defRPr>
            </a:defPPr>
          </a:lstStyle>
          <a:p xmlns:a="http://schemas.openxmlformats.org/drawingml/2006/main">
            <a:pPr algn="l">
              <a:defRPr sz="1350" b="0">
                <a:solidFill>
                  <a:srgbClr val="5C6D7D"/>
                </a:solidFill>
                <a:latin typeface="Arial"/>
                <a:ea typeface="Arial"/>
                <a:cs typeface="Arial"/>
              </a:defRPr>
            </a:pPr>
            <a:r>
              <a:rPr sz="1350" b="0">
                <a:solidFill>
                  <a:srgbClr val="5C6D7D"/>
                </a:solidFill>
                <a:latin typeface="Arial"/>
                <a:ea typeface="Arial"/>
                <a:cs typeface="Arial"/>
              </a:rPr>
              <a:t>Simulated outcomes with capacity 50, safety 1.2, delay one minute</a:t>
            </a:r>
          </a:p>
        </p:txBody>
      </p:sp>
      <p:sp>
        <p:nvSpPr>
          <p:cNvPr id="4" name="">
            <a:extLst xmlns:a="http://schemas.openxmlformats.org/drawingml/2006/main">
              <a:ext uri="{FF2B5EF4-FFF2-40B4-BE49-F238E27FC236}">
                <a16:creationId xmlns:a16="http://schemas.microsoft.com/office/drawing/2014/main" id="{B5BAC6B0-209A-4E43-9C43-991E0840E679}"/>
              </a:ext>
            </a:extLst>
          </p:cNvPr>
          <p:cNvSpPr>
            <a:spLocks xmlns:a="http://schemas.openxmlformats.org/drawingml/2006/main" noGrp="1"/>
          </p:cNvSpPr>
          <p:nvPr/>
        </p:nvSpPr>
        <p:spPr>
          <a:xfrm xmlns:a="http://schemas.openxmlformats.org/drawingml/2006/main">
            <a:off x="666750" y="6286500"/>
            <a:ext cx="10858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213F370-0D8B-47D2-8AB6-0A40E05D1B28}"/>
              </a:ext>
            </a:extLst>
          </p:cNvPr>
          <p:cNvSpPr>
            <a:spLocks xmlns:a="http://schemas.openxmlformats.org/drawingml/2006/main" noGrp="1"/>
          </p:cNvSpPr>
          <p:nvPr/>
        </p:nvSpPr>
        <p:spPr>
          <a:xfrm xmlns:a="http://schemas.openxmlformats.org/drawingml/2006/main">
            <a:off x="666750" y="63722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C6D7D"/>
                </a:solidFill>
                <a:latin typeface="Arial"/>
                <a:ea typeface="Arial"/>
                <a:cs typeface="Arial"/>
              </a:defRPr>
            </a:defPPr>
          </a:lstStyle>
          <a:p xmlns:a="http://schemas.openxmlformats.org/drawingml/2006/main">
            <a:pPr algn="l">
              <a:defRPr sz="975" b="0">
                <a:solidFill>
                  <a:srgbClr val="5C6D7D"/>
                </a:solidFill>
                <a:latin typeface="Arial"/>
                <a:ea typeface="Arial"/>
                <a:cs typeface="Arial"/>
              </a:defRPr>
            </a:pPr>
            <a:r>
              <a:rPr sz="975" b="0">
                <a:solidFill>
                  <a:srgbClr val="5C6D7D"/>
                </a:solidFill>
                <a:latin typeface="Arial"/>
                <a:ea typeface="Arial"/>
                <a:cs typeface="Arial"/>
              </a:rPr>
              <a:t>Intelligent Autoscaling of Microservices</a:t>
            </a:r>
          </a:p>
        </p:txBody>
      </p:sp>
      <p:sp>
        <p:nvSpPr>
          <p:cNvPr id="6" name="">
            <a:extLst xmlns:a="http://schemas.openxmlformats.org/drawingml/2006/main">
              <a:ext uri="{FF2B5EF4-FFF2-40B4-BE49-F238E27FC236}">
                <a16:creationId xmlns:a16="http://schemas.microsoft.com/office/drawing/2014/main" id="{D486BD14-0CA8-4B3E-B367-40DB6C9A4D0F}"/>
              </a:ext>
            </a:extLst>
          </p:cNvPr>
          <p:cNvSpPr>
            <a:spLocks xmlns:a="http://schemas.openxmlformats.org/drawingml/2006/main" noGrp="1"/>
          </p:cNvSpPr>
          <p:nvPr/>
        </p:nvSpPr>
        <p:spPr>
          <a:xfrm xmlns:a="http://schemas.openxmlformats.org/drawingml/2006/main">
            <a:off x="10991850" y="63531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C6D7D"/>
                </a:solidFill>
                <a:latin typeface="Arial"/>
                <a:ea typeface="Arial"/>
                <a:cs typeface="Arial"/>
              </a:defRPr>
            </a:defPPr>
          </a:lstStyle>
          <a:p xmlns:a="http://schemas.openxmlformats.org/drawingml/2006/main">
            <a:pPr algn="r">
              <a:defRPr sz="1050" b="1">
                <a:solidFill>
                  <a:srgbClr val="5C6D7D"/>
                </a:solidFill>
                <a:latin typeface="Arial"/>
                <a:ea typeface="Arial"/>
                <a:cs typeface="Arial"/>
              </a:defRPr>
            </a:pPr>
            <a:r>
              <a:rPr sz="1050" b="1">
                <a:solidFill>
                  <a:srgbClr val="5C6D7D"/>
                </a:solidFill>
                <a:latin typeface="Arial"/>
                <a:ea typeface="Arial"/>
                <a:cs typeface="Arial"/>
              </a:rPr>
              <a:t>09</a:t>
            </a:r>
          </a:p>
        </p:txBody>
      </p:sp>
      <p:graphicFrame>
        <p:nvGraphicFramePr>
          <p:cNvPr id="7" name="Chart">
            <a:extLst xmlns:a="http://schemas.openxmlformats.org/drawingml/2006/main">
              <a:ext uri="{FF2B5EF4-FFF2-40B4-BE49-F238E27FC236}">
                <a16:creationId xmlns:a16="http://schemas.microsoft.com/office/drawing/2014/main" id="{2CE65B4C-7EC5-499F-B5A0-84F7B756681D}"/>
              </a:ext>
            </a:extLst>
          </p:cNvPr>
          <p:cNvGraphicFramePr/>
          <p:nvPr/>
        </p:nvGraphicFramePr>
        <p:xfrm>
          <a:off xmlns:a="http://schemas.openxmlformats.org/drawingml/2006/main" x="666750" y="1809750"/>
          <a:ext xmlns:a="http://schemas.openxmlformats.org/drawingml/2006/main" cx="6238875" cy="3714750"/>
        </p:xfrm>
        <a:graphic xmlns:a="http://schemas.openxmlformats.org/drawingml/2006/main">
          <a:graphicData uri="http://schemas.openxmlformats.org/drawingml/2006/chart">
            <c:chart xmlns:r="http://schemas.openxmlformats.org/officeDocument/2006/relationships" xmlns:c="http://schemas.openxmlformats.org/drawingml/2006/chart" r:id="R395f9b96a8f241ba"/>
          </a:graphicData>
        </a:graphic>
      </p:graphicFrame>
      <p:sp>
        <p:nvSpPr>
          <p:cNvPr id="8" name="">
            <a:extLst xmlns:a="http://schemas.openxmlformats.org/drawingml/2006/main">
              <a:ext uri="{FF2B5EF4-FFF2-40B4-BE49-F238E27FC236}">
                <a16:creationId xmlns:a16="http://schemas.microsoft.com/office/drawing/2014/main" id="{80FF517C-59B2-4A48-B8F7-3BDC025D5D22}"/>
              </a:ext>
            </a:extLst>
          </p:cNvPr>
          <p:cNvSpPr>
            <a:spLocks xmlns:a="http://schemas.openxmlformats.org/drawingml/2006/main" noGrp="1"/>
          </p:cNvSpPr>
          <p:nvPr/>
        </p:nvSpPr>
        <p:spPr>
          <a:xfrm xmlns:a="http://schemas.openxmlformats.org/drawingml/2006/main">
            <a:off x="7410450" y="2047875"/>
            <a:ext cx="128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5C6D7D"/>
                </a:solidFill>
                <a:latin typeface="Arial"/>
                <a:ea typeface="Arial"/>
                <a:cs typeface="Arial"/>
              </a:defRPr>
            </a:defPPr>
          </a:lstStyle>
          <a:p xmlns:a="http://schemas.openxmlformats.org/drawingml/2006/main">
            <a:pPr algn="l">
              <a:defRPr sz="1500" b="1">
                <a:solidFill>
                  <a:srgbClr val="5C6D7D"/>
                </a:solidFill>
                <a:latin typeface="Arial"/>
                <a:ea typeface="Arial"/>
                <a:cs typeface="Arial"/>
              </a:defRPr>
            </a:pPr>
            <a:r>
              <a:rPr sz="1500" b="1">
                <a:solidFill>
                  <a:srgbClr val="5C6D7D"/>
                </a:solidFill>
                <a:latin typeface="Arial"/>
                <a:ea typeface="Arial"/>
                <a:cs typeface="Arial"/>
              </a:rPr>
              <a:t>Policy</a:t>
            </a:r>
          </a:p>
        </p:txBody>
      </p:sp>
      <p:sp>
        <p:nvSpPr>
          <p:cNvPr id="9" name="">
            <a:extLst xmlns:a="http://schemas.openxmlformats.org/drawingml/2006/main">
              <a:ext uri="{FF2B5EF4-FFF2-40B4-BE49-F238E27FC236}">
                <a16:creationId xmlns:a16="http://schemas.microsoft.com/office/drawing/2014/main" id="{F666475C-550A-4676-8A55-6D17C7F0856D}"/>
              </a:ext>
            </a:extLst>
          </p:cNvPr>
          <p:cNvSpPr>
            <a:spLocks xmlns:a="http://schemas.openxmlformats.org/drawingml/2006/main" noGrp="1"/>
          </p:cNvSpPr>
          <p:nvPr/>
        </p:nvSpPr>
        <p:spPr>
          <a:xfrm xmlns:a="http://schemas.openxmlformats.org/drawingml/2006/main">
            <a:off x="8810625" y="1952625"/>
            <a:ext cx="138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5C6D7D"/>
                </a:solidFill>
                <a:latin typeface="Arial"/>
                <a:ea typeface="Arial"/>
                <a:cs typeface="Arial"/>
              </a:defRPr>
            </a:defPPr>
          </a:lstStyle>
          <a:p xmlns:a="http://schemas.openxmlformats.org/drawingml/2006/main">
            <a:pPr algn="ctr">
              <a:defRPr sz="1425" b="1">
                <a:solidFill>
                  <a:srgbClr val="5C6D7D"/>
                </a:solidFill>
                <a:latin typeface="Arial"/>
                <a:ea typeface="Arial"/>
                <a:cs typeface="Arial"/>
              </a:defRPr>
            </a:pPr>
            <a:r>
              <a:rPr sz="1425" b="1">
                <a:solidFill>
                  <a:srgbClr val="5C6D7D"/>
                </a:solidFill>
                <a:latin typeface="Arial"/>
                <a:ea typeface="Arial"/>
                <a:cs typeface="Arial"/>
              </a:rPr>
              <a:t>Replica-</a:t>
            </a:r>
          </a:p>
          <a:p xmlns:a="http://schemas.openxmlformats.org/drawingml/2006/main">
            <a:pPr algn="ctr">
              <a:defRPr sz="1425" b="1">
                <a:solidFill>
                  <a:srgbClr val="5C6D7D"/>
                </a:solidFill>
                <a:latin typeface="Arial"/>
                <a:ea typeface="Arial"/>
                <a:cs typeface="Arial"/>
              </a:defRPr>
            </a:pPr>
            <a:r>
              <a:rPr sz="1425" b="1">
                <a:solidFill>
                  <a:srgbClr val="5C6D7D"/>
                </a:solidFill>
                <a:latin typeface="Arial"/>
                <a:ea typeface="Arial"/>
                <a:cs typeface="Arial"/>
              </a:rPr>
              <a:t>minutes</a:t>
            </a:r>
          </a:p>
        </p:txBody>
      </p:sp>
      <p:sp>
        <p:nvSpPr>
          <p:cNvPr id="10" name="">
            <a:extLst xmlns:a="http://schemas.openxmlformats.org/drawingml/2006/main">
              <a:ext uri="{FF2B5EF4-FFF2-40B4-BE49-F238E27FC236}">
                <a16:creationId xmlns:a16="http://schemas.microsoft.com/office/drawing/2014/main" id="{4B93C4F7-2037-4150-AE71-EDD2C6823031}"/>
              </a:ext>
            </a:extLst>
          </p:cNvPr>
          <p:cNvSpPr>
            <a:spLocks xmlns:a="http://schemas.openxmlformats.org/drawingml/2006/main" noGrp="1"/>
          </p:cNvSpPr>
          <p:nvPr/>
        </p:nvSpPr>
        <p:spPr>
          <a:xfrm xmlns:a="http://schemas.openxmlformats.org/drawingml/2006/main">
            <a:off x="10334625" y="20478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5C6D7D"/>
                </a:solidFill>
                <a:latin typeface="Arial"/>
                <a:ea typeface="Arial"/>
                <a:cs typeface="Arial"/>
              </a:defRPr>
            </a:defPPr>
          </a:lstStyle>
          <a:p xmlns:a="http://schemas.openxmlformats.org/drawingml/2006/main">
            <a:pPr algn="ctr">
              <a:defRPr sz="1425" b="1">
                <a:solidFill>
                  <a:srgbClr val="5C6D7D"/>
                </a:solidFill>
                <a:latin typeface="Arial"/>
                <a:ea typeface="Arial"/>
                <a:cs typeface="Arial"/>
              </a:defRPr>
            </a:pPr>
            <a:r>
              <a:rPr sz="1425" b="1">
                <a:solidFill>
                  <a:srgbClr val="5C6D7D"/>
                </a:solidFill>
                <a:latin typeface="Arial"/>
                <a:ea typeface="Arial"/>
                <a:cs typeface="Arial"/>
              </a:rPr>
              <a:t>Actions</a:t>
            </a:r>
          </a:p>
        </p:txBody>
      </p:sp>
      <p:sp>
        <p:nvSpPr>
          <p:cNvPr id="11" name="">
            <a:extLst xmlns:a="http://schemas.openxmlformats.org/drawingml/2006/main">
              <a:ext uri="{FF2B5EF4-FFF2-40B4-BE49-F238E27FC236}">
                <a16:creationId xmlns:a16="http://schemas.microsoft.com/office/drawing/2014/main" id="{A0B780CF-AE84-46B3-8B3B-2849BE046A0C}"/>
              </a:ext>
            </a:extLst>
          </p:cNvPr>
          <p:cNvSpPr>
            <a:spLocks xmlns:a="http://schemas.openxmlformats.org/drawingml/2006/main" noGrp="1"/>
          </p:cNvSpPr>
          <p:nvPr/>
        </p:nvSpPr>
        <p:spPr>
          <a:xfrm xmlns:a="http://schemas.openxmlformats.org/drawingml/2006/main">
            <a:off x="7381875" y="2571750"/>
            <a:ext cx="4000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E9AC5D9-D857-40D4-B244-69F47F142F03}"/>
              </a:ext>
            </a:extLst>
          </p:cNvPr>
          <p:cNvSpPr>
            <a:spLocks xmlns:a="http://schemas.openxmlformats.org/drawingml/2006/main" noGrp="1"/>
          </p:cNvSpPr>
          <p:nvPr/>
        </p:nvSpPr>
        <p:spPr>
          <a:xfrm xmlns:a="http://schemas.openxmlformats.org/drawingml/2006/main">
            <a:off x="7410450" y="2790825"/>
            <a:ext cx="133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182A42"/>
                </a:solidFill>
                <a:latin typeface="Arial"/>
                <a:ea typeface="Arial"/>
                <a:cs typeface="Arial"/>
              </a:defRPr>
            </a:defPPr>
          </a:lstStyle>
          <a:p xmlns:a="http://schemas.openxmlformats.org/drawingml/2006/main">
            <a:pPr algn="l">
              <a:defRPr sz="1800" b="0">
                <a:solidFill>
                  <a:srgbClr val="182A42"/>
                </a:solidFill>
                <a:latin typeface="Arial"/>
                <a:ea typeface="Arial"/>
                <a:cs typeface="Arial"/>
              </a:defRPr>
            </a:pPr>
            <a:r>
              <a:rPr sz="1800" b="0">
                <a:solidFill>
                  <a:srgbClr val="182A42"/>
                </a:solidFill>
                <a:latin typeface="Arial"/>
                <a:ea typeface="Arial"/>
                <a:cs typeface="Arial"/>
              </a:rPr>
              <a:t>Fixed</a:t>
            </a:r>
          </a:p>
        </p:txBody>
      </p:sp>
      <p:sp>
        <p:nvSpPr>
          <p:cNvPr id="13" name="">
            <a:extLst xmlns:a="http://schemas.openxmlformats.org/drawingml/2006/main">
              <a:ext uri="{FF2B5EF4-FFF2-40B4-BE49-F238E27FC236}">
                <a16:creationId xmlns:a16="http://schemas.microsoft.com/office/drawing/2014/main" id="{70A515B4-77A7-40EF-AA6A-B39377FD4B32}"/>
              </a:ext>
            </a:extLst>
          </p:cNvPr>
          <p:cNvSpPr>
            <a:spLocks xmlns:a="http://schemas.openxmlformats.org/drawingml/2006/main" noGrp="1"/>
          </p:cNvSpPr>
          <p:nvPr/>
        </p:nvSpPr>
        <p:spPr>
          <a:xfrm xmlns:a="http://schemas.openxmlformats.org/drawingml/2006/main">
            <a:off x="9001125" y="2790825"/>
            <a:ext cx="1028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182A42"/>
                </a:solidFill>
                <a:latin typeface="Arial"/>
                <a:ea typeface="Arial"/>
                <a:cs typeface="Arial"/>
              </a:defRPr>
            </a:defPPr>
          </a:lstStyle>
          <a:p xmlns:a="http://schemas.openxmlformats.org/drawingml/2006/main">
            <a:pPr algn="ctr">
              <a:defRPr sz="2025" b="1">
                <a:solidFill>
                  <a:srgbClr val="182A42"/>
                </a:solidFill>
                <a:latin typeface="Arial"/>
                <a:ea typeface="Arial"/>
                <a:cs typeface="Arial"/>
              </a:defRPr>
            </a:pPr>
            <a:r>
              <a:rPr sz="2025" b="1">
                <a:solidFill>
                  <a:srgbClr val="182A42"/>
                </a:solidFill>
                <a:latin typeface="Arial"/>
                <a:ea typeface="Arial"/>
                <a:cs typeface="Arial"/>
              </a:rPr>
              <a:t>22</a:t>
            </a:r>
          </a:p>
        </p:txBody>
      </p:sp>
      <p:sp>
        <p:nvSpPr>
          <p:cNvPr id="14" name="">
            <a:extLst xmlns:a="http://schemas.openxmlformats.org/drawingml/2006/main">
              <a:ext uri="{FF2B5EF4-FFF2-40B4-BE49-F238E27FC236}">
                <a16:creationId xmlns:a16="http://schemas.microsoft.com/office/drawing/2014/main" id="{94A9C8DD-EFA1-4984-86CF-10A8702FE1B6}"/>
              </a:ext>
            </a:extLst>
          </p:cNvPr>
          <p:cNvSpPr>
            <a:spLocks xmlns:a="http://schemas.openxmlformats.org/drawingml/2006/main" noGrp="1"/>
          </p:cNvSpPr>
          <p:nvPr/>
        </p:nvSpPr>
        <p:spPr>
          <a:xfrm xmlns:a="http://schemas.openxmlformats.org/drawingml/2006/main">
            <a:off x="10448925" y="2790825"/>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182A42"/>
                </a:solidFill>
                <a:latin typeface="Arial"/>
                <a:ea typeface="Arial"/>
                <a:cs typeface="Arial"/>
              </a:defRPr>
            </a:defPPr>
          </a:lstStyle>
          <a:p xmlns:a="http://schemas.openxmlformats.org/drawingml/2006/main">
            <a:pPr algn="ctr">
              <a:defRPr sz="2025" b="1">
                <a:solidFill>
                  <a:srgbClr val="182A42"/>
                </a:solidFill>
                <a:latin typeface="Arial"/>
                <a:ea typeface="Arial"/>
                <a:cs typeface="Arial"/>
              </a:defRPr>
            </a:pPr>
            <a:r>
              <a:rPr sz="2025" b="1">
                <a:solidFill>
                  <a:srgbClr val="182A42"/>
                </a:solidFill>
                <a:latin typeface="Arial"/>
                <a:ea typeface="Arial"/>
                <a:cs typeface="Arial"/>
              </a:rPr>
              <a:t>0</a:t>
            </a:r>
          </a:p>
        </p:txBody>
      </p:sp>
      <p:sp>
        <p:nvSpPr>
          <p:cNvPr id="15" name="">
            <a:extLst xmlns:a="http://schemas.openxmlformats.org/drawingml/2006/main">
              <a:ext uri="{FF2B5EF4-FFF2-40B4-BE49-F238E27FC236}">
                <a16:creationId xmlns:a16="http://schemas.microsoft.com/office/drawing/2014/main" id="{0F30BC5D-F247-4905-B2DC-DC64A49C9102}"/>
              </a:ext>
            </a:extLst>
          </p:cNvPr>
          <p:cNvSpPr>
            <a:spLocks xmlns:a="http://schemas.openxmlformats.org/drawingml/2006/main" noGrp="1"/>
          </p:cNvSpPr>
          <p:nvPr/>
        </p:nvSpPr>
        <p:spPr>
          <a:xfrm xmlns:a="http://schemas.openxmlformats.org/drawingml/2006/main">
            <a:off x="7381875" y="3429000"/>
            <a:ext cx="4000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88A9B44-2F44-4F25-A5FC-5A2F8C0DAB7C}"/>
              </a:ext>
            </a:extLst>
          </p:cNvPr>
          <p:cNvSpPr>
            <a:spLocks xmlns:a="http://schemas.openxmlformats.org/drawingml/2006/main" noGrp="1"/>
          </p:cNvSpPr>
          <p:nvPr/>
        </p:nvSpPr>
        <p:spPr>
          <a:xfrm xmlns:a="http://schemas.openxmlformats.org/drawingml/2006/main">
            <a:off x="7410450" y="3619500"/>
            <a:ext cx="133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182A42"/>
                </a:solidFill>
                <a:latin typeface="Arial"/>
                <a:ea typeface="Arial"/>
                <a:cs typeface="Arial"/>
              </a:defRPr>
            </a:defPPr>
          </a:lstStyle>
          <a:p xmlns:a="http://schemas.openxmlformats.org/drawingml/2006/main">
            <a:pPr algn="l">
              <a:defRPr sz="1800" b="0">
                <a:solidFill>
                  <a:srgbClr val="182A42"/>
                </a:solidFill>
                <a:latin typeface="Arial"/>
                <a:ea typeface="Arial"/>
                <a:cs typeface="Arial"/>
              </a:defRPr>
            </a:pPr>
            <a:r>
              <a:rPr sz="1800" b="0">
                <a:solidFill>
                  <a:srgbClr val="182A42"/>
                </a:solidFill>
                <a:latin typeface="Arial"/>
                <a:ea typeface="Arial"/>
                <a:cs typeface="Arial"/>
              </a:rPr>
              <a:t>Reactive</a:t>
            </a:r>
          </a:p>
        </p:txBody>
      </p:sp>
      <p:sp>
        <p:nvSpPr>
          <p:cNvPr id="17" name="">
            <a:extLst xmlns:a="http://schemas.openxmlformats.org/drawingml/2006/main">
              <a:ext uri="{FF2B5EF4-FFF2-40B4-BE49-F238E27FC236}">
                <a16:creationId xmlns:a16="http://schemas.microsoft.com/office/drawing/2014/main" id="{03FD8B50-AD8B-48BB-AD4C-DE60D36388C2}"/>
              </a:ext>
            </a:extLst>
          </p:cNvPr>
          <p:cNvSpPr>
            <a:spLocks xmlns:a="http://schemas.openxmlformats.org/drawingml/2006/main" noGrp="1"/>
          </p:cNvSpPr>
          <p:nvPr/>
        </p:nvSpPr>
        <p:spPr>
          <a:xfrm xmlns:a="http://schemas.openxmlformats.org/drawingml/2006/main">
            <a:off x="9001125" y="3619500"/>
            <a:ext cx="1028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182A42"/>
                </a:solidFill>
                <a:latin typeface="Arial"/>
                <a:ea typeface="Arial"/>
                <a:cs typeface="Arial"/>
              </a:defRPr>
            </a:defPPr>
          </a:lstStyle>
          <a:p xmlns:a="http://schemas.openxmlformats.org/drawingml/2006/main">
            <a:pPr algn="ctr">
              <a:defRPr sz="2025" b="1">
                <a:solidFill>
                  <a:srgbClr val="182A42"/>
                </a:solidFill>
                <a:latin typeface="Arial"/>
                <a:ea typeface="Arial"/>
                <a:cs typeface="Arial"/>
              </a:defRPr>
            </a:pPr>
            <a:r>
              <a:rPr sz="2025" b="1">
                <a:solidFill>
                  <a:srgbClr val="182A42"/>
                </a:solidFill>
                <a:latin typeface="Arial"/>
                <a:ea typeface="Arial"/>
                <a:cs typeface="Arial"/>
              </a:rPr>
              <a:t>34</a:t>
            </a:r>
          </a:p>
        </p:txBody>
      </p:sp>
      <p:sp>
        <p:nvSpPr>
          <p:cNvPr id="18" name="">
            <a:extLst xmlns:a="http://schemas.openxmlformats.org/drawingml/2006/main">
              <a:ext uri="{FF2B5EF4-FFF2-40B4-BE49-F238E27FC236}">
                <a16:creationId xmlns:a16="http://schemas.microsoft.com/office/drawing/2014/main" id="{800F304E-E168-47D7-9A2D-9700E6067E40}"/>
              </a:ext>
            </a:extLst>
          </p:cNvPr>
          <p:cNvSpPr>
            <a:spLocks xmlns:a="http://schemas.openxmlformats.org/drawingml/2006/main" noGrp="1"/>
          </p:cNvSpPr>
          <p:nvPr/>
        </p:nvSpPr>
        <p:spPr>
          <a:xfrm xmlns:a="http://schemas.openxmlformats.org/drawingml/2006/main">
            <a:off x="10448925" y="3619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182A42"/>
                </a:solidFill>
                <a:latin typeface="Arial"/>
                <a:ea typeface="Arial"/>
                <a:cs typeface="Arial"/>
              </a:defRPr>
            </a:defPPr>
          </a:lstStyle>
          <a:p xmlns:a="http://schemas.openxmlformats.org/drawingml/2006/main">
            <a:pPr algn="ctr">
              <a:defRPr sz="2025" b="1">
                <a:solidFill>
                  <a:srgbClr val="182A42"/>
                </a:solidFill>
                <a:latin typeface="Arial"/>
                <a:ea typeface="Arial"/>
                <a:cs typeface="Arial"/>
              </a:defRPr>
            </a:pPr>
            <a:r>
              <a:rPr sz="2025" b="1">
                <a:solidFill>
                  <a:srgbClr val="182A42"/>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563999BB-4921-44C8-A8AC-1201F0A39304}"/>
              </a:ext>
            </a:extLst>
          </p:cNvPr>
          <p:cNvSpPr>
            <a:spLocks xmlns:a="http://schemas.openxmlformats.org/drawingml/2006/main" noGrp="1"/>
          </p:cNvSpPr>
          <p:nvPr/>
        </p:nvSpPr>
        <p:spPr>
          <a:xfrm xmlns:a="http://schemas.openxmlformats.org/drawingml/2006/main">
            <a:off x="7381875" y="4257675"/>
            <a:ext cx="4000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DB2FC2B-323F-419D-8B92-D3C9AE3012A2}"/>
              </a:ext>
            </a:extLst>
          </p:cNvPr>
          <p:cNvSpPr>
            <a:spLocks xmlns:a="http://schemas.openxmlformats.org/drawingml/2006/main" noGrp="1"/>
          </p:cNvSpPr>
          <p:nvPr/>
        </p:nvSpPr>
        <p:spPr>
          <a:xfrm xmlns:a="http://schemas.openxmlformats.org/drawingml/2006/main">
            <a:off x="7410450" y="4448175"/>
            <a:ext cx="133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1">
                <a:solidFill>
                  <a:srgbClr val="009AA6"/>
                </a:solidFill>
                <a:latin typeface="Arial"/>
                <a:ea typeface="Arial"/>
                <a:cs typeface="Arial"/>
              </a:defRPr>
            </a:defPPr>
          </a:lstStyle>
          <a:p xmlns:a="http://schemas.openxmlformats.org/drawingml/2006/main">
            <a:pPr algn="l">
              <a:defRPr sz="1800" b="1">
                <a:solidFill>
                  <a:srgbClr val="009AA6"/>
                </a:solidFill>
                <a:latin typeface="Arial"/>
                <a:ea typeface="Arial"/>
                <a:cs typeface="Arial"/>
              </a:defRPr>
            </a:pPr>
            <a:r>
              <a:rPr sz="1800" b="1">
                <a:solidFill>
                  <a:srgbClr val="009AA6"/>
                </a:solidFill>
                <a:latin typeface="Arial"/>
                <a:ea typeface="Arial"/>
                <a:cs typeface="Arial"/>
              </a:rPr>
              <a:t>Predictive</a:t>
            </a:r>
          </a:p>
        </p:txBody>
      </p:sp>
      <p:sp>
        <p:nvSpPr>
          <p:cNvPr id="21" name="">
            <a:extLst xmlns:a="http://schemas.openxmlformats.org/drawingml/2006/main">
              <a:ext uri="{FF2B5EF4-FFF2-40B4-BE49-F238E27FC236}">
                <a16:creationId xmlns:a16="http://schemas.microsoft.com/office/drawing/2014/main" id="{404CB727-1B31-4AEF-A0C9-EEF51C82F9AE}"/>
              </a:ext>
            </a:extLst>
          </p:cNvPr>
          <p:cNvSpPr>
            <a:spLocks xmlns:a="http://schemas.openxmlformats.org/drawingml/2006/main" noGrp="1"/>
          </p:cNvSpPr>
          <p:nvPr/>
        </p:nvSpPr>
        <p:spPr>
          <a:xfrm xmlns:a="http://schemas.openxmlformats.org/drawingml/2006/main">
            <a:off x="9001125" y="4448175"/>
            <a:ext cx="1028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182A42"/>
                </a:solidFill>
                <a:latin typeface="Arial"/>
                <a:ea typeface="Arial"/>
                <a:cs typeface="Arial"/>
              </a:defRPr>
            </a:defPPr>
          </a:lstStyle>
          <a:p xmlns:a="http://schemas.openxmlformats.org/drawingml/2006/main">
            <a:pPr algn="ctr">
              <a:defRPr sz="2025" b="1">
                <a:solidFill>
                  <a:srgbClr val="182A42"/>
                </a:solidFill>
                <a:latin typeface="Arial"/>
                <a:ea typeface="Arial"/>
                <a:cs typeface="Arial"/>
              </a:defRPr>
            </a:pPr>
            <a:r>
              <a:rPr sz="2025" b="1">
                <a:solidFill>
                  <a:srgbClr val="182A42"/>
                </a:solidFill>
                <a:latin typeface="Arial"/>
                <a:ea typeface="Arial"/>
                <a:cs typeface="Arial"/>
              </a:rPr>
              <a:t>32</a:t>
            </a:r>
          </a:p>
        </p:txBody>
      </p:sp>
      <p:sp>
        <p:nvSpPr>
          <p:cNvPr id="22" name="">
            <a:extLst xmlns:a="http://schemas.openxmlformats.org/drawingml/2006/main">
              <a:ext uri="{FF2B5EF4-FFF2-40B4-BE49-F238E27FC236}">
                <a16:creationId xmlns:a16="http://schemas.microsoft.com/office/drawing/2014/main" id="{B7D9CB5C-2C68-4407-808C-D7C01EE13329}"/>
              </a:ext>
            </a:extLst>
          </p:cNvPr>
          <p:cNvSpPr>
            <a:spLocks xmlns:a="http://schemas.openxmlformats.org/drawingml/2006/main" noGrp="1"/>
          </p:cNvSpPr>
          <p:nvPr/>
        </p:nvSpPr>
        <p:spPr>
          <a:xfrm xmlns:a="http://schemas.openxmlformats.org/drawingml/2006/main">
            <a:off x="10448925" y="4448175"/>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182A42"/>
                </a:solidFill>
                <a:latin typeface="Arial"/>
                <a:ea typeface="Arial"/>
                <a:cs typeface="Arial"/>
              </a:defRPr>
            </a:defPPr>
          </a:lstStyle>
          <a:p xmlns:a="http://schemas.openxmlformats.org/drawingml/2006/main">
            <a:pPr algn="ctr">
              <a:defRPr sz="2025" b="1">
                <a:solidFill>
                  <a:srgbClr val="182A42"/>
                </a:solidFill>
                <a:latin typeface="Arial"/>
                <a:ea typeface="Arial"/>
                <a:cs typeface="Arial"/>
              </a:defRPr>
            </a:pPr>
            <a:r>
              <a:rPr sz="2025" b="1">
                <a:solidFill>
                  <a:srgbClr val="182A42"/>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6EA54DBF-8EB8-451E-921F-C1EB047918C8}"/>
              </a:ext>
            </a:extLst>
          </p:cNvPr>
          <p:cNvSpPr>
            <a:spLocks xmlns:a="http://schemas.openxmlformats.org/drawingml/2006/main" noGrp="1"/>
          </p:cNvSpPr>
          <p:nvPr/>
        </p:nvSpPr>
        <p:spPr>
          <a:xfrm xmlns:a="http://schemas.openxmlformats.org/drawingml/2006/main">
            <a:off x="685800" y="5762625"/>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C6D7D"/>
                </a:solidFill>
                <a:latin typeface="Arial"/>
                <a:ea typeface="Arial"/>
                <a:cs typeface="Arial"/>
              </a:defRPr>
            </a:defPPr>
          </a:lstStyle>
          <a:p xmlns:a="http://schemas.openxmlformats.org/drawingml/2006/main">
            <a:pPr algn="l">
              <a:defRPr sz="1350" b="0">
                <a:solidFill>
                  <a:srgbClr val="5C6D7D"/>
                </a:solidFill>
                <a:latin typeface="Arial"/>
                <a:ea typeface="Arial"/>
                <a:cs typeface="Arial"/>
              </a:defRPr>
            </a:pPr>
            <a:r>
              <a:rPr sz="1350" b="0">
                <a:solidFill>
                  <a:srgbClr val="5C6D7D"/>
                </a:solidFill>
                <a:latin typeface="Arial"/>
                <a:ea typeface="Arial"/>
                <a:cs typeface="Arial"/>
              </a:rPr>
              <a:t>Simulated results depend on the heuristic capacity and selected window.</a:t>
            </a:r>
          </a:p>
        </p:txBody>
      </p:sp>
    </p:spTree>
    <p:extLst>
      <p:ext uri="{BB962C8B-B14F-4D97-AF65-F5344CB8AC3E}">
        <p14:creationId xmlns:p14="http://schemas.microsoft.com/office/powerpoint/2010/main" val="259975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504FEDA-A384-4A7F-BFC2-FD16812FF180}"/>
              </a:ext>
            </a:extLst>
          </p:cNvPr>
          <p:cNvSpPr>
            <a:spLocks xmlns:a="http://schemas.openxmlformats.org/drawingml/2006/main" noGrp="1"/>
          </p:cNvSpPr>
          <p:nvPr/>
        </p:nvSpPr>
        <p:spPr>
          <a:xfrm xmlns:a="http://schemas.openxmlformats.org/drawingml/2006/main">
            <a:off x="0" y="0"/>
            <a:ext cx="12192000" cy="123825"/>
          </a:xfrm>
          <a:prstGeom xmlns:a="http://schemas.openxmlformats.org/drawingml/2006/main" prst="rect">
            <a:avLst/>
          </a:prstGeom>
          <a:solidFill xmlns:a="http://schemas.openxmlformats.org/drawingml/2006/main">
            <a:srgbClr val="142E52"/>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3A1F633-4C94-4B2C-8DE8-DCF54337A121}"/>
              </a:ext>
            </a:extLst>
          </p:cNvPr>
          <p:cNvSpPr>
            <a:spLocks xmlns:a="http://schemas.openxmlformats.org/drawingml/2006/main" noGrp="1"/>
          </p:cNvSpPr>
          <p:nvPr/>
        </p:nvSpPr>
        <p:spPr>
          <a:xfrm xmlns:a="http://schemas.openxmlformats.org/drawingml/2006/main">
            <a:off x="666750" y="3810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625" b="1">
                <a:solidFill>
                  <a:srgbClr val="142E52"/>
                </a:solidFill>
                <a:latin typeface="Arial"/>
                <a:ea typeface="Arial"/>
                <a:cs typeface="Arial"/>
              </a:defRPr>
            </a:defPPr>
          </a:lstStyle>
          <a:p xmlns:a="http://schemas.openxmlformats.org/drawingml/2006/main">
            <a:pPr algn="l">
              <a:defRPr sz="2625" b="1">
                <a:solidFill>
                  <a:srgbClr val="142E52"/>
                </a:solidFill>
                <a:latin typeface="Arial"/>
                <a:ea typeface="Arial"/>
                <a:cs typeface="Arial"/>
              </a:defRPr>
            </a:pPr>
            <a:r>
              <a:rPr sz="2625" b="1">
                <a:solidFill>
                  <a:srgbClr val="142E52"/>
                </a:solidFill>
                <a:latin typeface="Arial"/>
                <a:ea typeface="Arial"/>
                <a:cs typeface="Arial"/>
              </a:rPr>
              <a:t>Conclusion and next steps</a:t>
            </a:r>
          </a:p>
        </p:txBody>
      </p:sp>
      <p:sp>
        <p:nvSpPr>
          <p:cNvPr id="3" name="">
            <a:extLst xmlns:a="http://schemas.openxmlformats.org/drawingml/2006/main">
              <a:ext uri="{FF2B5EF4-FFF2-40B4-BE49-F238E27FC236}">
                <a16:creationId xmlns:a16="http://schemas.microsoft.com/office/drawing/2014/main" id="{ABE317B7-6B7C-411D-8C76-527DE36C454F}"/>
              </a:ext>
            </a:extLst>
          </p:cNvPr>
          <p:cNvSpPr>
            <a:spLocks xmlns:a="http://schemas.openxmlformats.org/drawingml/2006/main" noGrp="1"/>
          </p:cNvSpPr>
          <p:nvPr/>
        </p:nvSpPr>
        <p:spPr>
          <a:xfrm xmlns:a="http://schemas.openxmlformats.org/drawingml/2006/main">
            <a:off x="685800" y="10001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C6D7D"/>
                </a:solidFill>
                <a:latin typeface="Arial"/>
                <a:ea typeface="Arial"/>
                <a:cs typeface="Arial"/>
              </a:defRPr>
            </a:defPPr>
          </a:lstStyle>
          <a:p xmlns:a="http://schemas.openxmlformats.org/drawingml/2006/main">
            <a:pPr algn="l">
              <a:defRPr sz="1350" b="0">
                <a:solidFill>
                  <a:srgbClr val="5C6D7D"/>
                </a:solidFill>
                <a:latin typeface="Arial"/>
                <a:ea typeface="Arial"/>
                <a:cs typeface="Arial"/>
              </a:defRPr>
            </a:pPr>
            <a:r>
              <a:rPr sz="1350" b="0">
                <a:solidFill>
                  <a:srgbClr val="5C6D7D"/>
                </a:solidFill>
                <a:latin typeface="Arial"/>
                <a:ea typeface="Arial"/>
                <a:cs typeface="Arial"/>
              </a:rPr>
              <a:t>What the evidence supports—and what it does not</a:t>
            </a:r>
          </a:p>
        </p:txBody>
      </p:sp>
      <p:sp>
        <p:nvSpPr>
          <p:cNvPr id="4" name="">
            <a:extLst xmlns:a="http://schemas.openxmlformats.org/drawingml/2006/main">
              <a:ext uri="{FF2B5EF4-FFF2-40B4-BE49-F238E27FC236}">
                <a16:creationId xmlns:a16="http://schemas.microsoft.com/office/drawing/2014/main" id="{A8527BCF-8AB1-4987-9306-67D87E326158}"/>
              </a:ext>
            </a:extLst>
          </p:cNvPr>
          <p:cNvSpPr>
            <a:spLocks xmlns:a="http://schemas.openxmlformats.org/drawingml/2006/main" noGrp="1"/>
          </p:cNvSpPr>
          <p:nvPr/>
        </p:nvSpPr>
        <p:spPr>
          <a:xfrm xmlns:a="http://schemas.openxmlformats.org/drawingml/2006/main">
            <a:off x="666750" y="6286500"/>
            <a:ext cx="10858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D2F8716-3A71-41FC-B3B7-85FEE9170A61}"/>
              </a:ext>
            </a:extLst>
          </p:cNvPr>
          <p:cNvSpPr>
            <a:spLocks xmlns:a="http://schemas.openxmlformats.org/drawingml/2006/main" noGrp="1"/>
          </p:cNvSpPr>
          <p:nvPr/>
        </p:nvSpPr>
        <p:spPr>
          <a:xfrm xmlns:a="http://schemas.openxmlformats.org/drawingml/2006/main">
            <a:off x="666750" y="637222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C6D7D"/>
                </a:solidFill>
                <a:latin typeface="Arial"/>
                <a:ea typeface="Arial"/>
                <a:cs typeface="Arial"/>
              </a:defRPr>
            </a:defPPr>
          </a:lstStyle>
          <a:p xmlns:a="http://schemas.openxmlformats.org/drawingml/2006/main">
            <a:pPr algn="l">
              <a:defRPr sz="975" b="0">
                <a:solidFill>
                  <a:srgbClr val="5C6D7D"/>
                </a:solidFill>
                <a:latin typeface="Arial"/>
                <a:ea typeface="Arial"/>
                <a:cs typeface="Arial"/>
              </a:defRPr>
            </a:pPr>
            <a:r>
              <a:rPr sz="975" b="0">
                <a:solidFill>
                  <a:srgbClr val="5C6D7D"/>
                </a:solidFill>
                <a:latin typeface="Arial"/>
                <a:ea typeface="Arial"/>
                <a:cs typeface="Arial"/>
              </a:rPr>
              <a:t>Intelligent Autoscaling of Microservices</a:t>
            </a:r>
          </a:p>
        </p:txBody>
      </p:sp>
      <p:sp>
        <p:nvSpPr>
          <p:cNvPr id="6" name="">
            <a:extLst xmlns:a="http://schemas.openxmlformats.org/drawingml/2006/main">
              <a:ext uri="{FF2B5EF4-FFF2-40B4-BE49-F238E27FC236}">
                <a16:creationId xmlns:a16="http://schemas.microsoft.com/office/drawing/2014/main" id="{14940B59-5142-4B50-91B8-90EF22F14C47}"/>
              </a:ext>
            </a:extLst>
          </p:cNvPr>
          <p:cNvSpPr>
            <a:spLocks xmlns:a="http://schemas.openxmlformats.org/drawingml/2006/main" noGrp="1"/>
          </p:cNvSpPr>
          <p:nvPr/>
        </p:nvSpPr>
        <p:spPr>
          <a:xfrm xmlns:a="http://schemas.openxmlformats.org/drawingml/2006/main">
            <a:off x="10991850" y="635317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C6D7D"/>
                </a:solidFill>
                <a:latin typeface="Arial"/>
                <a:ea typeface="Arial"/>
                <a:cs typeface="Arial"/>
              </a:defRPr>
            </a:defPPr>
          </a:lstStyle>
          <a:p xmlns:a="http://schemas.openxmlformats.org/drawingml/2006/main">
            <a:pPr algn="r">
              <a:defRPr sz="1050" b="1">
                <a:solidFill>
                  <a:srgbClr val="5C6D7D"/>
                </a:solidFill>
                <a:latin typeface="Arial"/>
                <a:ea typeface="Arial"/>
                <a:cs typeface="Arial"/>
              </a:defRPr>
            </a:pPr>
            <a:r>
              <a:rPr sz="1050" b="1">
                <a:solidFill>
                  <a:srgbClr val="5C6D7D"/>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E16833AB-8FB0-46AC-A593-F54B2A9A358C}"/>
              </a:ext>
            </a:extLst>
          </p:cNvPr>
          <p:cNvSpPr>
            <a:spLocks xmlns:a="http://schemas.openxmlformats.org/drawingml/2006/main" noGrp="1"/>
          </p:cNvSpPr>
          <p:nvPr/>
        </p:nvSpPr>
        <p:spPr>
          <a:xfrm xmlns:a="http://schemas.openxmlformats.org/drawingml/2006/main">
            <a:off x="714375" y="1695450"/>
            <a:ext cx="333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142E52"/>
                </a:solidFill>
                <a:latin typeface="Arial"/>
                <a:ea typeface="Arial"/>
                <a:cs typeface="Arial"/>
              </a:defRPr>
            </a:defPPr>
          </a:lstStyle>
          <a:p xmlns:a="http://schemas.openxmlformats.org/drawingml/2006/main">
            <a:pPr algn="l">
              <a:defRPr sz="2100" b="1">
                <a:solidFill>
                  <a:srgbClr val="142E52"/>
                </a:solidFill>
                <a:latin typeface="Arial"/>
                <a:ea typeface="Arial"/>
                <a:cs typeface="Arial"/>
              </a:defRPr>
            </a:pPr>
            <a:r>
              <a:rPr sz="2100" b="1">
                <a:solidFill>
                  <a:srgbClr val="142E52"/>
                </a:solidFill>
                <a:latin typeface="Arial"/>
                <a:ea typeface="Arial"/>
                <a:cs typeface="Arial"/>
              </a:rPr>
              <a:t>Real-data pipeline</a:t>
            </a:r>
          </a:p>
        </p:txBody>
      </p:sp>
      <p:sp>
        <p:nvSpPr>
          <p:cNvPr id="8" name="">
            <a:extLst xmlns:a="http://schemas.openxmlformats.org/drawingml/2006/main">
              <a:ext uri="{FF2B5EF4-FFF2-40B4-BE49-F238E27FC236}">
                <a16:creationId xmlns:a16="http://schemas.microsoft.com/office/drawing/2014/main" id="{93E3D873-AC05-4175-AD7F-DF8FC2A58069}"/>
              </a:ext>
            </a:extLst>
          </p:cNvPr>
          <p:cNvSpPr>
            <a:spLocks xmlns:a="http://schemas.openxmlformats.org/drawingml/2006/main" noGrp="1"/>
          </p:cNvSpPr>
          <p:nvPr/>
        </p:nvSpPr>
        <p:spPr>
          <a:xfrm xmlns:a="http://schemas.openxmlformats.org/drawingml/2006/main">
            <a:off x="4143375" y="1695450"/>
            <a:ext cx="70008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182A42"/>
                </a:solidFill>
                <a:latin typeface="Arial"/>
                <a:ea typeface="Arial"/>
                <a:cs typeface="Arial"/>
              </a:defRPr>
            </a:defPPr>
          </a:lstStyle>
          <a:p xmlns:a="http://schemas.openxmlformats.org/drawingml/2006/main">
            <a:pPr algn="l">
              <a:defRPr sz="1800" b="0">
                <a:solidFill>
                  <a:srgbClr val="182A42"/>
                </a:solidFill>
                <a:latin typeface="Arial"/>
                <a:ea typeface="Arial"/>
                <a:cs typeface="Arial"/>
              </a:defRPr>
            </a:pPr>
            <a:r>
              <a:rPr sz="1800" b="0">
                <a:solidFill>
                  <a:srgbClr val="182A42"/>
                </a:solidFill>
                <a:latin typeface="Arial"/>
                <a:ea typeface="Arial"/>
                <a:cs typeface="Arial"/>
              </a:rPr>
              <a:t>Trace cleaning, past-only features, chronological evaluation</a:t>
            </a:r>
          </a:p>
        </p:txBody>
      </p:sp>
      <p:sp>
        <p:nvSpPr>
          <p:cNvPr id="9" name="">
            <a:extLst xmlns:a="http://schemas.openxmlformats.org/drawingml/2006/main">
              <a:ext uri="{FF2B5EF4-FFF2-40B4-BE49-F238E27FC236}">
                <a16:creationId xmlns:a16="http://schemas.microsoft.com/office/drawing/2014/main" id="{C974E0B7-FC29-4743-8105-6A35AA126724}"/>
              </a:ext>
            </a:extLst>
          </p:cNvPr>
          <p:cNvSpPr>
            <a:spLocks xmlns:a="http://schemas.openxmlformats.org/drawingml/2006/main" noGrp="1"/>
          </p:cNvSpPr>
          <p:nvPr/>
        </p:nvSpPr>
        <p:spPr>
          <a:xfrm xmlns:a="http://schemas.openxmlformats.org/drawingml/2006/main">
            <a:off x="714375" y="2581275"/>
            <a:ext cx="10477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E9CC53C-5C6E-4D35-BD51-6F0C8DCD67BF}"/>
              </a:ext>
            </a:extLst>
          </p:cNvPr>
          <p:cNvSpPr>
            <a:spLocks xmlns:a="http://schemas.openxmlformats.org/drawingml/2006/main" noGrp="1"/>
          </p:cNvSpPr>
          <p:nvPr/>
        </p:nvSpPr>
        <p:spPr>
          <a:xfrm xmlns:a="http://schemas.openxmlformats.org/drawingml/2006/main">
            <a:off x="714375" y="2905125"/>
            <a:ext cx="333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D78628"/>
                </a:solidFill>
                <a:latin typeface="Arial"/>
                <a:ea typeface="Arial"/>
                <a:cs typeface="Arial"/>
              </a:defRPr>
            </a:defPPr>
          </a:lstStyle>
          <a:p xmlns:a="http://schemas.openxmlformats.org/drawingml/2006/main">
            <a:pPr algn="l">
              <a:defRPr sz="2100" b="1">
                <a:solidFill>
                  <a:srgbClr val="D78628"/>
                </a:solidFill>
                <a:latin typeface="Arial"/>
                <a:ea typeface="Arial"/>
                <a:cs typeface="Arial"/>
              </a:defRPr>
            </a:pPr>
            <a:r>
              <a:rPr sz="2100" b="1">
                <a:solidFill>
                  <a:srgbClr val="D78628"/>
                </a:solidFill>
                <a:latin typeface="Arial"/>
                <a:ea typeface="Arial"/>
                <a:cs typeface="Arial"/>
              </a:rPr>
              <a:t>Honest forecast result</a:t>
            </a:r>
          </a:p>
        </p:txBody>
      </p:sp>
      <p:sp>
        <p:nvSpPr>
          <p:cNvPr id="11" name="">
            <a:extLst xmlns:a="http://schemas.openxmlformats.org/drawingml/2006/main">
              <a:ext uri="{FF2B5EF4-FFF2-40B4-BE49-F238E27FC236}">
                <a16:creationId xmlns:a16="http://schemas.microsoft.com/office/drawing/2014/main" id="{0740CC60-1EAA-45D1-8CC5-98DB408EC21E}"/>
              </a:ext>
            </a:extLst>
          </p:cNvPr>
          <p:cNvSpPr>
            <a:spLocks xmlns:a="http://schemas.openxmlformats.org/drawingml/2006/main" noGrp="1"/>
          </p:cNvSpPr>
          <p:nvPr/>
        </p:nvSpPr>
        <p:spPr>
          <a:xfrm xmlns:a="http://schemas.openxmlformats.org/drawingml/2006/main">
            <a:off x="4143375" y="2905125"/>
            <a:ext cx="70008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182A42"/>
                </a:solidFill>
                <a:latin typeface="Arial"/>
                <a:ea typeface="Arial"/>
                <a:cs typeface="Arial"/>
              </a:defRPr>
            </a:defPPr>
          </a:lstStyle>
          <a:p xmlns:a="http://schemas.openxmlformats.org/drawingml/2006/main">
            <a:pPr algn="l">
              <a:defRPr sz="1800" b="0">
                <a:solidFill>
                  <a:srgbClr val="182A42"/>
                </a:solidFill>
                <a:latin typeface="Arial"/>
                <a:ea typeface="Arial"/>
                <a:cs typeface="Arial"/>
              </a:defRPr>
            </a:pPr>
            <a:r>
              <a:rPr sz="1800" b="0">
                <a:solidFill>
                  <a:srgbClr val="182A42"/>
                </a:solidFill>
                <a:latin typeface="Arial"/>
                <a:ea typeface="Arial"/>
                <a:cs typeface="Arial"/>
              </a:rPr>
              <a:t>Persistence beats the fitted rpart tree on held-out MAE and RMSE</a:t>
            </a:r>
          </a:p>
        </p:txBody>
      </p:sp>
      <p:sp>
        <p:nvSpPr>
          <p:cNvPr id="12" name="">
            <a:extLst xmlns:a="http://schemas.openxmlformats.org/drawingml/2006/main">
              <a:ext uri="{FF2B5EF4-FFF2-40B4-BE49-F238E27FC236}">
                <a16:creationId xmlns:a16="http://schemas.microsoft.com/office/drawing/2014/main" id="{48A617FD-11E4-4CF5-8621-4CDEAD2981E3}"/>
              </a:ext>
            </a:extLst>
          </p:cNvPr>
          <p:cNvSpPr>
            <a:spLocks xmlns:a="http://schemas.openxmlformats.org/drawingml/2006/main" noGrp="1"/>
          </p:cNvSpPr>
          <p:nvPr/>
        </p:nvSpPr>
        <p:spPr>
          <a:xfrm xmlns:a="http://schemas.openxmlformats.org/drawingml/2006/main">
            <a:off x="714375" y="3790950"/>
            <a:ext cx="10477500" cy="9525"/>
          </a:xfrm>
          <a:prstGeom xmlns:a="http://schemas.openxmlformats.org/drawingml/2006/main" prst="rect">
            <a:avLst/>
          </a:prstGeom>
          <a:solidFill xmlns:a="http://schemas.openxmlformats.org/drawingml/2006/main">
            <a:srgbClr val="D6E1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2AC7F71-A2C1-438C-8BA5-7378052BAD1D}"/>
              </a:ext>
            </a:extLst>
          </p:cNvPr>
          <p:cNvSpPr>
            <a:spLocks xmlns:a="http://schemas.openxmlformats.org/drawingml/2006/main" noGrp="1"/>
          </p:cNvSpPr>
          <p:nvPr/>
        </p:nvSpPr>
        <p:spPr>
          <a:xfrm xmlns:a="http://schemas.openxmlformats.org/drawingml/2006/main">
            <a:off x="714375" y="4114800"/>
            <a:ext cx="3333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142E52"/>
                </a:solidFill>
                <a:latin typeface="Arial"/>
                <a:ea typeface="Arial"/>
                <a:cs typeface="Arial"/>
              </a:defRPr>
            </a:defPPr>
          </a:lstStyle>
          <a:p xmlns:a="http://schemas.openxmlformats.org/drawingml/2006/main">
            <a:pPr algn="l">
              <a:defRPr sz="2100" b="1">
                <a:solidFill>
                  <a:srgbClr val="142E52"/>
                </a:solidFill>
                <a:latin typeface="Arial"/>
                <a:ea typeface="Arial"/>
                <a:cs typeface="Arial"/>
              </a:defRPr>
            </a:pPr>
            <a:r>
              <a:rPr sz="2100" b="1">
                <a:solidFill>
                  <a:srgbClr val="142E52"/>
                </a:solidFill>
                <a:latin typeface="Arial"/>
                <a:ea typeface="Arial"/>
                <a:cs typeface="Arial"/>
              </a:rPr>
              <a:t>Useful simulation</a:t>
            </a:r>
          </a:p>
        </p:txBody>
      </p:sp>
      <p:sp>
        <p:nvSpPr>
          <p:cNvPr id="14" name="">
            <a:extLst xmlns:a="http://schemas.openxmlformats.org/drawingml/2006/main">
              <a:ext uri="{FF2B5EF4-FFF2-40B4-BE49-F238E27FC236}">
                <a16:creationId xmlns:a16="http://schemas.microsoft.com/office/drawing/2014/main" id="{247B07AE-5738-44D4-ADCE-C70965609668}"/>
              </a:ext>
            </a:extLst>
          </p:cNvPr>
          <p:cNvSpPr>
            <a:spLocks xmlns:a="http://schemas.openxmlformats.org/drawingml/2006/main" noGrp="1"/>
          </p:cNvSpPr>
          <p:nvPr/>
        </p:nvSpPr>
        <p:spPr>
          <a:xfrm xmlns:a="http://schemas.openxmlformats.org/drawingml/2006/main">
            <a:off x="4143375" y="4114800"/>
            <a:ext cx="70008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182A42"/>
                </a:solidFill>
                <a:latin typeface="Arial"/>
                <a:ea typeface="Arial"/>
                <a:cs typeface="Arial"/>
              </a:defRPr>
            </a:defPPr>
          </a:lstStyle>
          <a:p xmlns:a="http://schemas.openxmlformats.org/drawingml/2006/main">
            <a:pPr algn="l">
              <a:defRPr sz="1800" b="0">
                <a:solidFill>
                  <a:srgbClr val="182A42"/>
                </a:solidFill>
                <a:latin typeface="Arial"/>
                <a:ea typeface="Arial"/>
                <a:cs typeface="Arial"/>
              </a:defRPr>
            </a:pPr>
            <a:r>
              <a:rPr sz="1800" b="0">
                <a:solidFill>
                  <a:srgbClr val="182A42"/>
                </a:solidFill>
                <a:latin typeface="Arial"/>
                <a:ea typeface="Arial"/>
                <a:cs typeface="Arial"/>
              </a:rPr>
              <a:t>Policies expose trade-offs in overload, replica-minutes, and actions</a:t>
            </a:r>
          </a:p>
        </p:txBody>
      </p:sp>
      <p:sp>
        <p:nvSpPr>
          <p:cNvPr id="15" name="">
            <a:extLst xmlns:a="http://schemas.openxmlformats.org/drawingml/2006/main">
              <a:ext uri="{FF2B5EF4-FFF2-40B4-BE49-F238E27FC236}">
                <a16:creationId xmlns:a16="http://schemas.microsoft.com/office/drawing/2014/main" id="{82C656AB-56E1-44CD-8407-EABB4E6FB2E5}"/>
              </a:ext>
            </a:extLst>
          </p:cNvPr>
          <p:cNvSpPr>
            <a:spLocks xmlns:a="http://schemas.openxmlformats.org/drawingml/2006/main" noGrp="1"/>
          </p:cNvSpPr>
          <p:nvPr/>
        </p:nvSpPr>
        <p:spPr>
          <a:xfrm xmlns:a="http://schemas.openxmlformats.org/drawingml/2006/main">
            <a:off x="714375" y="54673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C6D7D"/>
                </a:solidFill>
                <a:latin typeface="Arial"/>
                <a:ea typeface="Arial"/>
                <a:cs typeface="Arial"/>
              </a:defRPr>
            </a:defPPr>
          </a:lstStyle>
          <a:p xmlns:a="http://schemas.openxmlformats.org/drawingml/2006/main">
            <a:pPr algn="l">
              <a:defRPr sz="1575" b="0">
                <a:solidFill>
                  <a:srgbClr val="5C6D7D"/>
                </a:solidFill>
                <a:latin typeface="Arial"/>
                <a:ea typeface="Arial"/>
                <a:cs typeface="Arial"/>
              </a:defRPr>
            </a:pPr>
            <a:r>
              <a:rPr sz="1575" b="0">
                <a:solidFill>
                  <a:srgbClr val="5C6D7D"/>
                </a:solidFill>
                <a:latin typeface="Arial"/>
                <a:ea typeface="Arial"/>
                <a:cs typeface="Arial"/>
              </a:rPr>
              <a:t>Next: verify metric units, measure real capacity and latency, test longer traces, then consider live control.</a:t>
            </a:r>
          </a:p>
        </p:txBody>
      </p:sp>
    </p:spTree>
    <p:extLst>
      <p:ext uri="{BB962C8B-B14F-4D97-AF65-F5344CB8AC3E}">
        <p14:creationId xmlns:p14="http://schemas.microsoft.com/office/powerpoint/2010/main" val="8603421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2026-10-06T17:42:46.5790000Z</dcterms:created>
  <dcterms:modified xsi:type="dcterms:W3CDTF">2026-10-06T17:42:46.5790000Z</dcterms:modified>
</coreProperties>
</file>